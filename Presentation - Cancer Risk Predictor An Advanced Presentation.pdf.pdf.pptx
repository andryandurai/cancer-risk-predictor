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eorgia Pro Condensed Light" charset="1" panose="02040306050405020303"/>
      <p:regular r:id="rId19"/>
    </p:embeddedFont>
    <p:embeddedFont>
      <p:font typeface="TT Interphases" charset="1" panose="02000503020000020004"/>
      <p:regular r:id="rId20"/>
    </p:embeddedFont>
    <p:embeddedFont>
      <p:font typeface="TT Interphases Bold" charset="1" panose="020008030600000200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0.jpeg" Type="http://schemas.openxmlformats.org/officeDocument/2006/relationships/image"/><Relationship Id="rId4" Target="../media/image2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Freeform 2" id="2"/>
          <p:cNvSpPr/>
          <p:nvPr/>
        </p:nvSpPr>
        <p:spPr>
          <a:xfrm flipH="false" flipV="false" rot="0">
            <a:off x="8991600" y="1562100"/>
            <a:ext cx="8629650" cy="8723786"/>
          </a:xfrm>
          <a:custGeom>
            <a:avLst/>
            <a:gdLst/>
            <a:ahLst/>
            <a:cxnLst/>
            <a:rect r="r" b="b" t="t" l="l"/>
            <a:pathLst>
              <a:path h="8723786" w="8629650">
                <a:moveTo>
                  <a:pt x="0" y="0"/>
                </a:moveTo>
                <a:lnTo>
                  <a:pt x="8629650" y="0"/>
                </a:lnTo>
                <a:lnTo>
                  <a:pt x="8629650" y="8723786"/>
                </a:lnTo>
                <a:lnTo>
                  <a:pt x="0" y="8723786"/>
                </a:lnTo>
                <a:lnTo>
                  <a:pt x="0" y="0"/>
                </a:lnTo>
                <a:close/>
              </a:path>
            </a:pathLst>
          </a:custGeom>
          <a:blipFill>
            <a:blip r:embed="rId2"/>
            <a:stretch>
              <a:fillRect l="0" t="-80" r="0" b="0"/>
            </a:stretch>
          </a:blipFill>
        </p:spPr>
      </p:sp>
      <p:sp>
        <p:nvSpPr>
          <p:cNvPr name="Freeform 3" id="3"/>
          <p:cNvSpPr/>
          <p:nvPr/>
        </p:nvSpPr>
        <p:spPr>
          <a:xfrm flipH="false" flipV="false" rot="0">
            <a:off x="603247" y="1195388"/>
            <a:ext cx="17081497" cy="136522"/>
          </a:xfrm>
          <a:custGeom>
            <a:avLst/>
            <a:gdLst/>
            <a:ahLst/>
            <a:cxnLst/>
            <a:rect r="r" b="b" t="t" l="l"/>
            <a:pathLst>
              <a:path h="136522" w="17081497">
                <a:moveTo>
                  <a:pt x="0" y="0"/>
                </a:moveTo>
                <a:lnTo>
                  <a:pt x="17081497" y="0"/>
                </a:lnTo>
                <a:lnTo>
                  <a:pt x="17081497" y="136521"/>
                </a:lnTo>
                <a:lnTo>
                  <a:pt x="0" y="1365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66750" y="1729283"/>
            <a:ext cx="5086398" cy="2383050"/>
          </a:xfrm>
          <a:prstGeom prst="rect">
            <a:avLst/>
          </a:prstGeom>
        </p:spPr>
        <p:txBody>
          <a:bodyPr anchor="t" rtlCol="false" tIns="0" lIns="0" bIns="0" rIns="0">
            <a:spAutoFit/>
          </a:bodyPr>
          <a:lstStyle/>
          <a:p>
            <a:pPr algn="l">
              <a:lnSpc>
                <a:spcPts val="9298"/>
              </a:lnSpc>
            </a:pPr>
            <a:r>
              <a:rPr lang="en-US" sz="8499">
                <a:solidFill>
                  <a:srgbClr val="E7E6E1"/>
                </a:solidFill>
                <a:latin typeface="Georgia Pro Condensed Light"/>
                <a:ea typeface="Georgia Pro Condensed Light"/>
                <a:cs typeface="Georgia Pro Condensed Light"/>
                <a:sym typeface="Georgia Pro Condensed Light"/>
              </a:rPr>
              <a:t>Cancer Risk Predictor</a:t>
            </a:r>
          </a:p>
        </p:txBody>
      </p:sp>
      <p:sp>
        <p:nvSpPr>
          <p:cNvPr name="TextBox 5" id="5"/>
          <p:cNvSpPr txBox="true"/>
          <p:nvPr/>
        </p:nvSpPr>
        <p:spPr>
          <a:xfrm rot="0">
            <a:off x="320964" y="8268643"/>
            <a:ext cx="3567389" cy="1371838"/>
          </a:xfrm>
          <a:prstGeom prst="rect">
            <a:avLst/>
          </a:prstGeom>
        </p:spPr>
        <p:txBody>
          <a:bodyPr anchor="t" rtlCol="false" tIns="0" lIns="0" bIns="0" rIns="0">
            <a:spAutoFit/>
          </a:bodyPr>
          <a:lstStyle/>
          <a:p>
            <a:pPr algn="l">
              <a:lnSpc>
                <a:spcPts val="3600"/>
              </a:lnSpc>
            </a:pPr>
            <a:r>
              <a:rPr lang="en-US" sz="2599">
                <a:solidFill>
                  <a:srgbClr val="C6C8D1"/>
                </a:solidFill>
                <a:latin typeface="TT Interphases"/>
                <a:ea typeface="TT Interphases"/>
                <a:cs typeface="TT Interphases"/>
                <a:sym typeface="TT Interphases"/>
              </a:rPr>
              <a:t> Presented by  ABHINAYA RD and ANDRYAN DURAI JEBIN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6213E"/>
        </a:solidFill>
      </p:bgPr>
    </p:bg>
    <p:spTree>
      <p:nvGrpSpPr>
        <p:cNvPr id="1" name=""/>
        <p:cNvGrpSpPr/>
        <p:nvPr/>
      </p:nvGrpSpPr>
      <p:grpSpPr>
        <a:xfrm>
          <a:off x="0" y="0"/>
          <a:ext cx="0" cy="0"/>
          <a:chOff x="0" y="0"/>
          <a:chExt cx="0" cy="0"/>
        </a:xfrm>
      </p:grpSpPr>
      <p:sp>
        <p:nvSpPr>
          <p:cNvPr name="Freeform 2" id="2"/>
          <p:cNvSpPr/>
          <p:nvPr/>
        </p:nvSpPr>
        <p:spPr>
          <a:xfrm flipH="false" flipV="false" rot="0">
            <a:off x="8991600" y="666750"/>
            <a:ext cx="9296400" cy="9616564"/>
          </a:xfrm>
          <a:custGeom>
            <a:avLst/>
            <a:gdLst/>
            <a:ahLst/>
            <a:cxnLst/>
            <a:rect r="r" b="b" t="t" l="l"/>
            <a:pathLst>
              <a:path h="9616564" w="9296400">
                <a:moveTo>
                  <a:pt x="0" y="0"/>
                </a:moveTo>
                <a:lnTo>
                  <a:pt x="9296400" y="0"/>
                </a:lnTo>
                <a:lnTo>
                  <a:pt x="9296400" y="9616564"/>
                </a:lnTo>
                <a:lnTo>
                  <a:pt x="0" y="9616564"/>
                </a:lnTo>
                <a:lnTo>
                  <a:pt x="0" y="0"/>
                </a:lnTo>
                <a:close/>
              </a:path>
            </a:pathLst>
          </a:custGeom>
          <a:blipFill>
            <a:blip r:embed="rId2"/>
            <a:stretch>
              <a:fillRect l="0" t="-69" r="0" b="0"/>
            </a:stretch>
          </a:blipFill>
        </p:spPr>
      </p:sp>
      <p:sp>
        <p:nvSpPr>
          <p:cNvPr name="Freeform 3" id="3"/>
          <p:cNvSpPr/>
          <p:nvPr/>
        </p:nvSpPr>
        <p:spPr>
          <a:xfrm flipH="false" flipV="false" rot="0">
            <a:off x="9189864" y="1779946"/>
            <a:ext cx="9098136" cy="356790"/>
          </a:xfrm>
          <a:custGeom>
            <a:avLst/>
            <a:gdLst/>
            <a:ahLst/>
            <a:cxnLst/>
            <a:rect r="r" b="b" t="t" l="l"/>
            <a:pathLst>
              <a:path h="356790" w="9098136">
                <a:moveTo>
                  <a:pt x="0" y="0"/>
                </a:moveTo>
                <a:lnTo>
                  <a:pt x="9098136" y="0"/>
                </a:lnTo>
                <a:lnTo>
                  <a:pt x="9098136" y="356790"/>
                </a:lnTo>
                <a:lnTo>
                  <a:pt x="0" y="356790"/>
                </a:lnTo>
                <a:lnTo>
                  <a:pt x="0" y="0"/>
                </a:lnTo>
                <a:close/>
              </a:path>
            </a:pathLst>
          </a:custGeom>
          <a:blipFill>
            <a:blip r:embed="rId3"/>
            <a:stretch>
              <a:fillRect l="0" t="0" r="0" b="0"/>
            </a:stretch>
          </a:blipFill>
        </p:spPr>
      </p:sp>
      <p:sp>
        <p:nvSpPr>
          <p:cNvPr name="Freeform 4" id="4"/>
          <p:cNvSpPr/>
          <p:nvPr/>
        </p:nvSpPr>
        <p:spPr>
          <a:xfrm flipH="false" flipV="false" rot="0">
            <a:off x="9342264" y="1932346"/>
            <a:ext cx="9098136" cy="402306"/>
          </a:xfrm>
          <a:custGeom>
            <a:avLst/>
            <a:gdLst/>
            <a:ahLst/>
            <a:cxnLst/>
            <a:rect r="r" b="b" t="t" l="l"/>
            <a:pathLst>
              <a:path h="402306" w="9098136">
                <a:moveTo>
                  <a:pt x="0" y="0"/>
                </a:moveTo>
                <a:lnTo>
                  <a:pt x="9098136" y="0"/>
                </a:lnTo>
                <a:lnTo>
                  <a:pt x="9098136" y="402307"/>
                </a:lnTo>
                <a:lnTo>
                  <a:pt x="0" y="402307"/>
                </a:lnTo>
                <a:lnTo>
                  <a:pt x="0" y="0"/>
                </a:lnTo>
                <a:close/>
              </a:path>
            </a:pathLst>
          </a:custGeom>
          <a:blipFill>
            <a:blip r:embed="rId3"/>
            <a:stretch>
              <a:fillRect l="-6378" t="0" r="-6378" b="0"/>
            </a:stretch>
          </a:blipFill>
        </p:spPr>
      </p:sp>
      <p:sp>
        <p:nvSpPr>
          <p:cNvPr name="Freeform 5" id="5"/>
          <p:cNvSpPr/>
          <p:nvPr/>
        </p:nvSpPr>
        <p:spPr>
          <a:xfrm flipH="false" flipV="false" rot="0">
            <a:off x="9342264" y="3636852"/>
            <a:ext cx="2065158" cy="356512"/>
          </a:xfrm>
          <a:custGeom>
            <a:avLst/>
            <a:gdLst/>
            <a:ahLst/>
            <a:cxnLst/>
            <a:rect r="r" b="b" t="t" l="l"/>
            <a:pathLst>
              <a:path h="356512" w="2065158">
                <a:moveTo>
                  <a:pt x="0" y="0"/>
                </a:moveTo>
                <a:lnTo>
                  <a:pt x="2065158" y="0"/>
                </a:lnTo>
                <a:lnTo>
                  <a:pt x="2065158" y="356512"/>
                </a:lnTo>
                <a:lnTo>
                  <a:pt x="0" y="356512"/>
                </a:lnTo>
                <a:lnTo>
                  <a:pt x="0" y="0"/>
                </a:lnTo>
                <a:close/>
              </a:path>
            </a:pathLst>
          </a:custGeom>
          <a:blipFill>
            <a:blip r:embed="rId3"/>
            <a:stretch>
              <a:fillRect l="-581408" t="-287734" r="-1025442" b="0"/>
            </a:stretch>
          </a:blipFill>
        </p:spPr>
      </p:sp>
      <p:sp>
        <p:nvSpPr>
          <p:cNvPr name="Freeform 6" id="6"/>
          <p:cNvSpPr/>
          <p:nvPr/>
        </p:nvSpPr>
        <p:spPr>
          <a:xfrm flipH="false" flipV="false" rot="0">
            <a:off x="9722322" y="8026117"/>
            <a:ext cx="2065158" cy="356512"/>
          </a:xfrm>
          <a:custGeom>
            <a:avLst/>
            <a:gdLst/>
            <a:ahLst/>
            <a:cxnLst/>
            <a:rect r="r" b="b" t="t" l="l"/>
            <a:pathLst>
              <a:path h="356512" w="2065158">
                <a:moveTo>
                  <a:pt x="0" y="0"/>
                </a:moveTo>
                <a:lnTo>
                  <a:pt x="2065158" y="0"/>
                </a:lnTo>
                <a:lnTo>
                  <a:pt x="2065158" y="356512"/>
                </a:lnTo>
                <a:lnTo>
                  <a:pt x="0" y="356512"/>
                </a:lnTo>
                <a:lnTo>
                  <a:pt x="0" y="0"/>
                </a:lnTo>
                <a:close/>
              </a:path>
            </a:pathLst>
          </a:custGeom>
          <a:blipFill>
            <a:blip r:embed="rId3"/>
            <a:stretch>
              <a:fillRect l="-581408" t="-287734" r="-1025442" b="0"/>
            </a:stretch>
          </a:blipFill>
        </p:spPr>
      </p:sp>
      <p:sp>
        <p:nvSpPr>
          <p:cNvPr name="Freeform 7" id="7"/>
          <p:cNvSpPr/>
          <p:nvPr/>
        </p:nvSpPr>
        <p:spPr>
          <a:xfrm flipH="false" flipV="false" rot="0">
            <a:off x="15892366" y="3610996"/>
            <a:ext cx="1611718" cy="278234"/>
          </a:xfrm>
          <a:custGeom>
            <a:avLst/>
            <a:gdLst/>
            <a:ahLst/>
            <a:cxnLst/>
            <a:rect r="r" b="b" t="t" l="l"/>
            <a:pathLst>
              <a:path h="278234" w="1611718">
                <a:moveTo>
                  <a:pt x="0" y="0"/>
                </a:moveTo>
                <a:lnTo>
                  <a:pt x="1611717" y="0"/>
                </a:lnTo>
                <a:lnTo>
                  <a:pt x="1611717" y="278234"/>
                </a:lnTo>
                <a:lnTo>
                  <a:pt x="0" y="278234"/>
                </a:lnTo>
                <a:lnTo>
                  <a:pt x="0" y="0"/>
                </a:lnTo>
                <a:close/>
              </a:path>
            </a:pathLst>
          </a:custGeom>
          <a:blipFill>
            <a:blip r:embed="rId3"/>
            <a:stretch>
              <a:fillRect l="-581408" t="-287734" r="-1025442" b="0"/>
            </a:stretch>
          </a:blipFill>
        </p:spPr>
      </p:sp>
      <p:sp>
        <p:nvSpPr>
          <p:cNvPr name="Freeform 8" id="8"/>
          <p:cNvSpPr/>
          <p:nvPr/>
        </p:nvSpPr>
        <p:spPr>
          <a:xfrm flipH="false" flipV="false" rot="0">
            <a:off x="13096876" y="3236918"/>
            <a:ext cx="1284111" cy="221678"/>
          </a:xfrm>
          <a:custGeom>
            <a:avLst/>
            <a:gdLst/>
            <a:ahLst/>
            <a:cxnLst/>
            <a:rect r="r" b="b" t="t" l="l"/>
            <a:pathLst>
              <a:path h="221678" w="1284111">
                <a:moveTo>
                  <a:pt x="0" y="0"/>
                </a:moveTo>
                <a:lnTo>
                  <a:pt x="1284111" y="0"/>
                </a:lnTo>
                <a:lnTo>
                  <a:pt x="1284111" y="221678"/>
                </a:lnTo>
                <a:lnTo>
                  <a:pt x="0" y="221678"/>
                </a:lnTo>
                <a:lnTo>
                  <a:pt x="0" y="0"/>
                </a:lnTo>
                <a:close/>
              </a:path>
            </a:pathLst>
          </a:custGeom>
          <a:blipFill>
            <a:blip r:embed="rId3"/>
            <a:stretch>
              <a:fillRect l="-581408" t="-287734" r="-1025442" b="0"/>
            </a:stretch>
          </a:blipFill>
        </p:spPr>
      </p:sp>
      <p:sp>
        <p:nvSpPr>
          <p:cNvPr name="Freeform 9" id="9"/>
          <p:cNvSpPr/>
          <p:nvPr/>
        </p:nvSpPr>
        <p:spPr>
          <a:xfrm flipH="false" flipV="false" rot="0">
            <a:off x="15665646" y="8026117"/>
            <a:ext cx="2065158" cy="356512"/>
          </a:xfrm>
          <a:custGeom>
            <a:avLst/>
            <a:gdLst/>
            <a:ahLst/>
            <a:cxnLst/>
            <a:rect r="r" b="b" t="t" l="l"/>
            <a:pathLst>
              <a:path h="356512" w="2065158">
                <a:moveTo>
                  <a:pt x="0" y="0"/>
                </a:moveTo>
                <a:lnTo>
                  <a:pt x="2065158" y="0"/>
                </a:lnTo>
                <a:lnTo>
                  <a:pt x="2065158" y="356512"/>
                </a:lnTo>
                <a:lnTo>
                  <a:pt x="0" y="356512"/>
                </a:lnTo>
                <a:lnTo>
                  <a:pt x="0" y="0"/>
                </a:lnTo>
                <a:close/>
              </a:path>
            </a:pathLst>
          </a:custGeom>
          <a:blipFill>
            <a:blip r:embed="rId3"/>
            <a:stretch>
              <a:fillRect l="-581408" t="-287734" r="-1025442" b="0"/>
            </a:stretch>
          </a:blipFill>
        </p:spPr>
      </p:sp>
      <p:sp>
        <p:nvSpPr>
          <p:cNvPr name="Freeform 10" id="10"/>
          <p:cNvSpPr/>
          <p:nvPr/>
        </p:nvSpPr>
        <p:spPr>
          <a:xfrm flipH="false" flipV="false" rot="0">
            <a:off x="15892366" y="5731081"/>
            <a:ext cx="1331451" cy="453185"/>
          </a:xfrm>
          <a:custGeom>
            <a:avLst/>
            <a:gdLst/>
            <a:ahLst/>
            <a:cxnLst/>
            <a:rect r="r" b="b" t="t" l="l"/>
            <a:pathLst>
              <a:path h="453185" w="1331451">
                <a:moveTo>
                  <a:pt x="0" y="0"/>
                </a:moveTo>
                <a:lnTo>
                  <a:pt x="1331451" y="0"/>
                </a:lnTo>
                <a:lnTo>
                  <a:pt x="1331451" y="453185"/>
                </a:lnTo>
                <a:lnTo>
                  <a:pt x="0" y="453185"/>
                </a:lnTo>
                <a:lnTo>
                  <a:pt x="0" y="0"/>
                </a:lnTo>
                <a:close/>
              </a:path>
            </a:pathLst>
          </a:custGeom>
          <a:blipFill>
            <a:blip r:embed="rId4"/>
            <a:stretch>
              <a:fillRect l="0" t="0" r="-701087" b="-228995"/>
            </a:stretch>
          </a:blipFill>
        </p:spPr>
      </p:sp>
      <p:sp>
        <p:nvSpPr>
          <p:cNvPr name="Freeform 11" id="11"/>
          <p:cNvSpPr/>
          <p:nvPr/>
        </p:nvSpPr>
        <p:spPr>
          <a:xfrm flipH="false" flipV="false" rot="0">
            <a:off x="12963264" y="9085654"/>
            <a:ext cx="1551335" cy="345293"/>
          </a:xfrm>
          <a:custGeom>
            <a:avLst/>
            <a:gdLst/>
            <a:ahLst/>
            <a:cxnLst/>
            <a:rect r="r" b="b" t="t" l="l"/>
            <a:pathLst>
              <a:path h="345293" w="1551335">
                <a:moveTo>
                  <a:pt x="0" y="0"/>
                </a:moveTo>
                <a:lnTo>
                  <a:pt x="1551335" y="0"/>
                </a:lnTo>
                <a:lnTo>
                  <a:pt x="1551335" y="345292"/>
                </a:lnTo>
                <a:lnTo>
                  <a:pt x="0" y="345292"/>
                </a:lnTo>
                <a:lnTo>
                  <a:pt x="0" y="0"/>
                </a:lnTo>
                <a:close/>
              </a:path>
            </a:pathLst>
          </a:custGeom>
          <a:blipFill>
            <a:blip r:embed="rId5"/>
            <a:stretch>
              <a:fillRect l="0" t="0" r="-438638" b="-99999"/>
            </a:stretch>
          </a:blipFill>
        </p:spPr>
      </p:sp>
      <p:sp>
        <p:nvSpPr>
          <p:cNvPr name="Freeform 12" id="12"/>
          <p:cNvSpPr/>
          <p:nvPr/>
        </p:nvSpPr>
        <p:spPr>
          <a:xfrm flipH="false" flipV="false" rot="0">
            <a:off x="12704824" y="5965442"/>
            <a:ext cx="1869952" cy="437649"/>
          </a:xfrm>
          <a:custGeom>
            <a:avLst/>
            <a:gdLst/>
            <a:ahLst/>
            <a:cxnLst/>
            <a:rect r="r" b="b" t="t" l="l"/>
            <a:pathLst>
              <a:path h="437649" w="1869952">
                <a:moveTo>
                  <a:pt x="0" y="0"/>
                </a:moveTo>
                <a:lnTo>
                  <a:pt x="1869952" y="0"/>
                </a:lnTo>
                <a:lnTo>
                  <a:pt x="1869952" y="437649"/>
                </a:lnTo>
                <a:lnTo>
                  <a:pt x="0" y="437649"/>
                </a:lnTo>
                <a:lnTo>
                  <a:pt x="0" y="0"/>
                </a:lnTo>
                <a:close/>
              </a:path>
            </a:pathLst>
          </a:custGeom>
          <a:blipFill>
            <a:blip r:embed="rId5"/>
            <a:stretch>
              <a:fillRect l="0" t="0" r="-466383" b="-99999"/>
            </a:stretch>
          </a:blipFill>
        </p:spPr>
      </p:sp>
      <p:sp>
        <p:nvSpPr>
          <p:cNvPr name="TextBox 13" id="13"/>
          <p:cNvSpPr txBox="true"/>
          <p:nvPr/>
        </p:nvSpPr>
        <p:spPr>
          <a:xfrm rot="0">
            <a:off x="666750" y="805205"/>
            <a:ext cx="6096171" cy="2016157"/>
          </a:xfrm>
          <a:prstGeom prst="rect">
            <a:avLst/>
          </a:prstGeom>
        </p:spPr>
        <p:txBody>
          <a:bodyPr anchor="t" rtlCol="false" tIns="0" lIns="0" bIns="0" rIns="0">
            <a:spAutoFit/>
          </a:bodyPr>
          <a:lstStyle/>
          <a:p>
            <a:pPr algn="l">
              <a:lnSpc>
                <a:spcPts val="7876"/>
              </a:lnSpc>
            </a:pPr>
            <a:r>
              <a:rPr lang="en-US" sz="7200">
                <a:solidFill>
                  <a:srgbClr val="E7E6E1"/>
                </a:solidFill>
                <a:latin typeface="Georgia Pro Condensed Light"/>
                <a:ea typeface="Georgia Pro Condensed Light"/>
                <a:cs typeface="Georgia Pro Condensed Light"/>
                <a:sym typeface="Georgia Pro Condensed Light"/>
              </a:rPr>
              <a:t>Introduction and Overview</a:t>
            </a:r>
          </a:p>
        </p:txBody>
      </p:sp>
      <p:sp>
        <p:nvSpPr>
          <p:cNvPr name="TextBox 14" id="14"/>
          <p:cNvSpPr txBox="true"/>
          <p:nvPr/>
        </p:nvSpPr>
        <p:spPr>
          <a:xfrm rot="0">
            <a:off x="666750" y="5131479"/>
            <a:ext cx="6891633" cy="3589734"/>
          </a:xfrm>
          <a:prstGeom prst="rect">
            <a:avLst/>
          </a:prstGeom>
        </p:spPr>
        <p:txBody>
          <a:bodyPr anchor="t" rtlCol="false" tIns="0" lIns="0" bIns="0" rIns="0">
            <a:spAutoFit/>
          </a:bodyPr>
          <a:lstStyle/>
          <a:p>
            <a:pPr algn="l">
              <a:lnSpc>
                <a:spcPts val="4050"/>
              </a:lnSpc>
            </a:pPr>
            <a:r>
              <a:rPr lang="en-US" sz="2899">
                <a:solidFill>
                  <a:srgbClr val="C6C8D1"/>
                </a:solidFill>
                <a:latin typeface="TT Interphases"/>
                <a:ea typeface="TT Interphases"/>
                <a:cs typeface="TT Interphases"/>
                <a:sym typeface="TT Interphases"/>
              </a:rPr>
              <a:t>The </a:t>
            </a:r>
            <a:r>
              <a:rPr lang="en-US" b="true" sz="2899">
                <a:solidFill>
                  <a:srgbClr val="C6C8D1"/>
                </a:solidFill>
                <a:latin typeface="TT Interphases Bold"/>
                <a:ea typeface="TT Interphases Bold"/>
                <a:cs typeface="TT Interphases Bold"/>
                <a:sym typeface="TT Interphases Bold"/>
              </a:rPr>
              <a:t>Cancer Risk Predictor</a:t>
            </a:r>
            <a:r>
              <a:rPr lang="en-US" sz="2899">
                <a:solidFill>
                  <a:srgbClr val="C6C8D1"/>
                </a:solidFill>
                <a:latin typeface="TT Interphases"/>
                <a:ea typeface="TT Interphases"/>
                <a:cs typeface="TT Interphases"/>
                <a:sym typeface="TT Interphases"/>
              </a:rPr>
              <a:t> project aims to develop an innovative tool for early cancer risk assessment. This presentation outlines the modular architecture and user workflow, highlighting the significance of digital health tools in cancer risk prediction and management.</a:t>
            </a:r>
          </a:p>
        </p:txBody>
      </p:sp>
      <p:sp>
        <p:nvSpPr>
          <p:cNvPr name="TextBox 15" id="15"/>
          <p:cNvSpPr txBox="true"/>
          <p:nvPr/>
        </p:nvSpPr>
        <p:spPr>
          <a:xfrm rot="0">
            <a:off x="9409473" y="3563343"/>
            <a:ext cx="2378008" cy="325887"/>
          </a:xfrm>
          <a:prstGeom prst="rect">
            <a:avLst/>
          </a:prstGeom>
        </p:spPr>
        <p:txBody>
          <a:bodyPr anchor="t" rtlCol="false" tIns="0" lIns="0" bIns="0" rIns="0">
            <a:spAutoFit/>
          </a:bodyPr>
          <a:lstStyle/>
          <a:p>
            <a:pPr algn="l">
              <a:lnSpc>
                <a:spcPts val="2638"/>
              </a:lnSpc>
            </a:pPr>
            <a:r>
              <a:rPr lang="en-US" sz="1899">
                <a:solidFill>
                  <a:srgbClr val="1A1A2E"/>
                </a:solidFill>
                <a:latin typeface="TT Interphases"/>
                <a:ea typeface="TT Interphases"/>
                <a:cs typeface="TT Interphases"/>
                <a:sym typeface="TT Interphases"/>
              </a:rPr>
              <a:t>Patient Registration</a:t>
            </a:r>
          </a:p>
        </p:txBody>
      </p:sp>
      <p:sp>
        <p:nvSpPr>
          <p:cNvPr name="TextBox 16" id="16"/>
          <p:cNvSpPr txBox="true"/>
          <p:nvPr/>
        </p:nvSpPr>
        <p:spPr>
          <a:xfrm rot="0">
            <a:off x="15892366" y="5775680"/>
            <a:ext cx="2378008" cy="325887"/>
          </a:xfrm>
          <a:prstGeom prst="rect">
            <a:avLst/>
          </a:prstGeom>
        </p:spPr>
        <p:txBody>
          <a:bodyPr anchor="t" rtlCol="false" tIns="0" lIns="0" bIns="0" rIns="0">
            <a:spAutoFit/>
          </a:bodyPr>
          <a:lstStyle/>
          <a:p>
            <a:pPr algn="l">
              <a:lnSpc>
                <a:spcPts val="2638"/>
              </a:lnSpc>
            </a:pPr>
            <a:r>
              <a:rPr lang="en-US" sz="1899">
                <a:solidFill>
                  <a:srgbClr val="1A1A2E"/>
                </a:solidFill>
                <a:latin typeface="TT Interphases"/>
                <a:ea typeface="TT Interphases"/>
                <a:cs typeface="TT Interphases"/>
                <a:sym typeface="TT Interphases"/>
              </a:rPr>
              <a:t>Data Analysis</a:t>
            </a:r>
          </a:p>
        </p:txBody>
      </p:sp>
      <p:sp>
        <p:nvSpPr>
          <p:cNvPr name="TextBox 17" id="17"/>
          <p:cNvSpPr txBox="true"/>
          <p:nvPr/>
        </p:nvSpPr>
        <p:spPr>
          <a:xfrm rot="0">
            <a:off x="16070296" y="3598752"/>
            <a:ext cx="2378008" cy="325887"/>
          </a:xfrm>
          <a:prstGeom prst="rect">
            <a:avLst/>
          </a:prstGeom>
        </p:spPr>
        <p:txBody>
          <a:bodyPr anchor="t" rtlCol="false" tIns="0" lIns="0" bIns="0" rIns="0">
            <a:spAutoFit/>
          </a:bodyPr>
          <a:lstStyle/>
          <a:p>
            <a:pPr algn="l">
              <a:lnSpc>
                <a:spcPts val="2638"/>
              </a:lnSpc>
            </a:pPr>
            <a:r>
              <a:rPr lang="en-US" sz="1899">
                <a:solidFill>
                  <a:srgbClr val="1A1A2E"/>
                </a:solidFill>
                <a:latin typeface="TT Interphases"/>
                <a:ea typeface="TT Interphases"/>
                <a:cs typeface="TT Interphases"/>
                <a:sym typeface="TT Interphases"/>
              </a:rPr>
              <a:t>Data Logs</a:t>
            </a:r>
          </a:p>
        </p:txBody>
      </p:sp>
      <p:sp>
        <p:nvSpPr>
          <p:cNvPr name="TextBox 18" id="18"/>
          <p:cNvSpPr txBox="true"/>
          <p:nvPr/>
        </p:nvSpPr>
        <p:spPr>
          <a:xfrm rot="0">
            <a:off x="13191983" y="3165764"/>
            <a:ext cx="2378008" cy="325887"/>
          </a:xfrm>
          <a:prstGeom prst="rect">
            <a:avLst/>
          </a:prstGeom>
        </p:spPr>
        <p:txBody>
          <a:bodyPr anchor="t" rtlCol="false" tIns="0" lIns="0" bIns="0" rIns="0">
            <a:spAutoFit/>
          </a:bodyPr>
          <a:lstStyle/>
          <a:p>
            <a:pPr algn="l">
              <a:lnSpc>
                <a:spcPts val="2638"/>
              </a:lnSpc>
            </a:pPr>
            <a:r>
              <a:rPr lang="en-US" sz="1899">
                <a:solidFill>
                  <a:srgbClr val="1A1A2E"/>
                </a:solidFill>
                <a:latin typeface="TT Interphases"/>
                <a:ea typeface="TT Interphases"/>
                <a:cs typeface="TT Interphases"/>
                <a:sym typeface="TT Interphases"/>
              </a:rPr>
              <a:t>User Login</a:t>
            </a:r>
          </a:p>
        </p:txBody>
      </p:sp>
      <p:sp>
        <p:nvSpPr>
          <p:cNvPr name="TextBox 19" id="19"/>
          <p:cNvSpPr txBox="true"/>
          <p:nvPr/>
        </p:nvSpPr>
        <p:spPr>
          <a:xfrm rot="0">
            <a:off x="9722322" y="8166273"/>
            <a:ext cx="2378008" cy="325887"/>
          </a:xfrm>
          <a:prstGeom prst="rect">
            <a:avLst/>
          </a:prstGeom>
        </p:spPr>
        <p:txBody>
          <a:bodyPr anchor="t" rtlCol="false" tIns="0" lIns="0" bIns="0" rIns="0">
            <a:spAutoFit/>
          </a:bodyPr>
          <a:lstStyle/>
          <a:p>
            <a:pPr algn="l">
              <a:lnSpc>
                <a:spcPts val="2638"/>
              </a:lnSpc>
            </a:pPr>
            <a:r>
              <a:rPr lang="en-US" sz="1899">
                <a:solidFill>
                  <a:srgbClr val="1A1A2E"/>
                </a:solidFill>
                <a:latin typeface="TT Interphases"/>
                <a:ea typeface="TT Interphases"/>
                <a:cs typeface="TT Interphases"/>
                <a:sym typeface="TT Interphases"/>
              </a:rPr>
              <a:t>Data Synchronization</a:t>
            </a:r>
          </a:p>
        </p:txBody>
      </p:sp>
      <p:sp>
        <p:nvSpPr>
          <p:cNvPr name="TextBox 20" id="20"/>
          <p:cNvSpPr txBox="true"/>
          <p:nvPr/>
        </p:nvSpPr>
        <p:spPr>
          <a:xfrm rot="0">
            <a:off x="15665646" y="8139917"/>
            <a:ext cx="2378008" cy="325887"/>
          </a:xfrm>
          <a:prstGeom prst="rect">
            <a:avLst/>
          </a:prstGeom>
        </p:spPr>
        <p:txBody>
          <a:bodyPr anchor="t" rtlCol="false" tIns="0" lIns="0" bIns="0" rIns="0">
            <a:spAutoFit/>
          </a:bodyPr>
          <a:lstStyle/>
          <a:p>
            <a:pPr algn="l">
              <a:lnSpc>
                <a:spcPts val="2638"/>
              </a:lnSpc>
            </a:pPr>
            <a:r>
              <a:rPr lang="en-US" sz="1899">
                <a:solidFill>
                  <a:srgbClr val="1A1A2E"/>
                </a:solidFill>
                <a:latin typeface="TT Interphases"/>
                <a:ea typeface="TT Interphases"/>
                <a:cs typeface="TT Interphases"/>
                <a:sym typeface="TT Interphases"/>
              </a:rPr>
              <a:t>Predicted Output</a:t>
            </a:r>
          </a:p>
        </p:txBody>
      </p:sp>
      <p:sp>
        <p:nvSpPr>
          <p:cNvPr name="Freeform 21" id="21"/>
          <p:cNvSpPr/>
          <p:nvPr/>
        </p:nvSpPr>
        <p:spPr>
          <a:xfrm flipH="false" flipV="false" rot="0">
            <a:off x="10080946" y="6184266"/>
            <a:ext cx="1660761" cy="301524"/>
          </a:xfrm>
          <a:custGeom>
            <a:avLst/>
            <a:gdLst/>
            <a:ahLst/>
            <a:cxnLst/>
            <a:rect r="r" b="b" t="t" l="l"/>
            <a:pathLst>
              <a:path h="301524" w="1660761">
                <a:moveTo>
                  <a:pt x="0" y="0"/>
                </a:moveTo>
                <a:lnTo>
                  <a:pt x="1660761" y="0"/>
                </a:lnTo>
                <a:lnTo>
                  <a:pt x="1660761" y="301524"/>
                </a:lnTo>
                <a:lnTo>
                  <a:pt x="0" y="301524"/>
                </a:lnTo>
                <a:lnTo>
                  <a:pt x="0" y="0"/>
                </a:lnTo>
                <a:close/>
              </a:path>
            </a:pathLst>
          </a:custGeom>
          <a:blipFill>
            <a:blip r:embed="rId5"/>
            <a:stretch>
              <a:fillRect l="0" t="0" r="-745797" b="-285004"/>
            </a:stretch>
          </a:blipFill>
        </p:spPr>
      </p:sp>
      <p:sp>
        <p:nvSpPr>
          <p:cNvPr name="TextBox 22" id="22"/>
          <p:cNvSpPr txBox="true"/>
          <p:nvPr/>
        </p:nvSpPr>
        <p:spPr>
          <a:xfrm rot="0">
            <a:off x="10217496" y="6146166"/>
            <a:ext cx="2019384" cy="325887"/>
          </a:xfrm>
          <a:prstGeom prst="rect">
            <a:avLst/>
          </a:prstGeom>
        </p:spPr>
        <p:txBody>
          <a:bodyPr anchor="t" rtlCol="false" tIns="0" lIns="0" bIns="0" rIns="0">
            <a:spAutoFit/>
          </a:bodyPr>
          <a:lstStyle/>
          <a:p>
            <a:pPr algn="l">
              <a:lnSpc>
                <a:spcPts val="2638"/>
              </a:lnSpc>
            </a:pPr>
            <a:r>
              <a:rPr lang="en-US" sz="1899">
                <a:solidFill>
                  <a:srgbClr val="1A1A2E"/>
                </a:solidFill>
                <a:latin typeface="TT Interphases"/>
                <a:ea typeface="TT Interphases"/>
                <a:cs typeface="TT Interphases"/>
                <a:sym typeface="TT Interphases"/>
              </a:rPr>
              <a:t>Data Reports</a:t>
            </a:r>
          </a:p>
        </p:txBody>
      </p:sp>
      <p:sp>
        <p:nvSpPr>
          <p:cNvPr name="TextBox 23" id="23"/>
          <p:cNvSpPr txBox="true"/>
          <p:nvPr/>
        </p:nvSpPr>
        <p:spPr>
          <a:xfrm rot="0">
            <a:off x="10911326" y="2296553"/>
            <a:ext cx="2378008" cy="325887"/>
          </a:xfrm>
          <a:prstGeom prst="rect">
            <a:avLst/>
          </a:prstGeom>
        </p:spPr>
        <p:txBody>
          <a:bodyPr anchor="t" rtlCol="false" tIns="0" lIns="0" bIns="0" rIns="0">
            <a:spAutoFit/>
          </a:bodyPr>
          <a:lstStyle/>
          <a:p>
            <a:pPr algn="l">
              <a:lnSpc>
                <a:spcPts val="2638"/>
              </a:lnSpc>
            </a:pPr>
            <a:r>
              <a:rPr lang="en-US" sz="1899">
                <a:solidFill>
                  <a:srgbClr val="1A1A2E"/>
                </a:solidFill>
                <a:latin typeface="TT Interphases"/>
                <a:ea typeface="TT Interphases"/>
                <a:cs typeface="TT Interphases"/>
                <a:sym typeface="TT Interphases"/>
              </a:rPr>
              <a:t>Patient Registration</a:t>
            </a:r>
          </a:p>
        </p:txBody>
      </p:sp>
      <p:sp>
        <p:nvSpPr>
          <p:cNvPr name="Freeform 24" id="24"/>
          <p:cNvSpPr/>
          <p:nvPr/>
        </p:nvSpPr>
        <p:spPr>
          <a:xfrm flipH="false" flipV="false" rot="0">
            <a:off x="9409473" y="1196665"/>
            <a:ext cx="9098136" cy="402306"/>
          </a:xfrm>
          <a:custGeom>
            <a:avLst/>
            <a:gdLst/>
            <a:ahLst/>
            <a:cxnLst/>
            <a:rect r="r" b="b" t="t" l="l"/>
            <a:pathLst>
              <a:path h="402306" w="9098136">
                <a:moveTo>
                  <a:pt x="0" y="0"/>
                </a:moveTo>
                <a:lnTo>
                  <a:pt x="9098136" y="0"/>
                </a:lnTo>
                <a:lnTo>
                  <a:pt x="9098136" y="402306"/>
                </a:lnTo>
                <a:lnTo>
                  <a:pt x="0" y="402306"/>
                </a:lnTo>
                <a:lnTo>
                  <a:pt x="0" y="0"/>
                </a:lnTo>
                <a:close/>
              </a:path>
            </a:pathLst>
          </a:custGeom>
          <a:blipFill>
            <a:blip r:embed="rId3"/>
            <a:stretch>
              <a:fillRect l="-6378" t="0" r="-6378" b="0"/>
            </a:stretch>
          </a:blipFill>
        </p:spPr>
      </p:sp>
      <p:sp>
        <p:nvSpPr>
          <p:cNvPr name="Freeform 25" id="25"/>
          <p:cNvSpPr/>
          <p:nvPr/>
        </p:nvSpPr>
        <p:spPr>
          <a:xfrm flipH="false" flipV="false" rot="0">
            <a:off x="9409473" y="1932346"/>
            <a:ext cx="9098136" cy="402306"/>
          </a:xfrm>
          <a:custGeom>
            <a:avLst/>
            <a:gdLst/>
            <a:ahLst/>
            <a:cxnLst/>
            <a:rect r="r" b="b" t="t" l="l"/>
            <a:pathLst>
              <a:path h="402306" w="9098136">
                <a:moveTo>
                  <a:pt x="0" y="0"/>
                </a:moveTo>
                <a:lnTo>
                  <a:pt x="9098136" y="0"/>
                </a:lnTo>
                <a:lnTo>
                  <a:pt x="9098136" y="402307"/>
                </a:lnTo>
                <a:lnTo>
                  <a:pt x="0" y="402307"/>
                </a:lnTo>
                <a:lnTo>
                  <a:pt x="0" y="0"/>
                </a:lnTo>
                <a:close/>
              </a:path>
            </a:pathLst>
          </a:custGeom>
          <a:blipFill>
            <a:blip r:embed="rId3"/>
            <a:stretch>
              <a:fillRect l="-6378" t="0" r="-6378" b="0"/>
            </a:stretch>
          </a:blipFill>
        </p:spPr>
      </p:sp>
      <p:sp>
        <p:nvSpPr>
          <p:cNvPr name="TextBox 26" id="26"/>
          <p:cNvSpPr txBox="true"/>
          <p:nvPr/>
        </p:nvSpPr>
        <p:spPr>
          <a:xfrm rot="0">
            <a:off x="10465813" y="1120836"/>
            <a:ext cx="6347974" cy="459085"/>
          </a:xfrm>
          <a:prstGeom prst="rect">
            <a:avLst/>
          </a:prstGeom>
        </p:spPr>
        <p:txBody>
          <a:bodyPr anchor="t" rtlCol="false" tIns="0" lIns="0" bIns="0" rIns="0">
            <a:spAutoFit/>
          </a:bodyPr>
          <a:lstStyle/>
          <a:p>
            <a:pPr algn="ctr">
              <a:lnSpc>
                <a:spcPts val="3749"/>
              </a:lnSpc>
            </a:pPr>
            <a:r>
              <a:rPr lang="en-US" sz="2699">
                <a:solidFill>
                  <a:srgbClr val="1A1A2E"/>
                </a:solidFill>
                <a:latin typeface="TT Interphases"/>
                <a:ea typeface="TT Interphases"/>
                <a:cs typeface="TT Interphases"/>
                <a:sym typeface="TT Interphases"/>
              </a:rPr>
              <a:t>Cancer Risk Predictor System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F3460"/>
        </a:solidFill>
      </p:bgPr>
    </p:bg>
    <p:spTree>
      <p:nvGrpSpPr>
        <p:cNvPr id="1" name=""/>
        <p:cNvGrpSpPr/>
        <p:nvPr/>
      </p:nvGrpSpPr>
      <p:grpSpPr>
        <a:xfrm>
          <a:off x="0" y="0"/>
          <a:ext cx="0" cy="0"/>
          <a:chOff x="0" y="0"/>
          <a:chExt cx="0" cy="0"/>
        </a:xfrm>
      </p:grpSpPr>
      <p:sp>
        <p:nvSpPr>
          <p:cNvPr name="Freeform 2" id="2"/>
          <p:cNvSpPr/>
          <p:nvPr/>
        </p:nvSpPr>
        <p:spPr>
          <a:xfrm flipH="false" flipV="false" rot="0">
            <a:off x="7553325" y="3357562"/>
            <a:ext cx="10734675" cy="6929438"/>
          </a:xfrm>
          <a:custGeom>
            <a:avLst/>
            <a:gdLst/>
            <a:ahLst/>
            <a:cxnLst/>
            <a:rect r="r" b="b" t="t" l="l"/>
            <a:pathLst>
              <a:path h="6929438" w="10734675">
                <a:moveTo>
                  <a:pt x="0" y="0"/>
                </a:moveTo>
                <a:lnTo>
                  <a:pt x="10734675" y="0"/>
                </a:lnTo>
                <a:lnTo>
                  <a:pt x="10734675" y="6929438"/>
                </a:lnTo>
                <a:lnTo>
                  <a:pt x="0" y="6929438"/>
                </a:lnTo>
                <a:lnTo>
                  <a:pt x="0" y="0"/>
                </a:lnTo>
                <a:close/>
              </a:path>
            </a:pathLst>
          </a:custGeom>
          <a:blipFill>
            <a:blip r:embed="rId2"/>
            <a:stretch>
              <a:fillRect l="-431" t="0" r="-431" b="0"/>
            </a:stretch>
          </a:blipFill>
        </p:spPr>
      </p:sp>
      <p:sp>
        <p:nvSpPr>
          <p:cNvPr name="Freeform 3" id="3"/>
          <p:cNvSpPr/>
          <p:nvPr/>
        </p:nvSpPr>
        <p:spPr>
          <a:xfrm flipH="false" flipV="false" rot="0">
            <a:off x="7553325" y="2659442"/>
            <a:ext cx="10734675" cy="4404189"/>
          </a:xfrm>
          <a:custGeom>
            <a:avLst/>
            <a:gdLst/>
            <a:ahLst/>
            <a:cxnLst/>
            <a:rect r="r" b="b" t="t" l="l"/>
            <a:pathLst>
              <a:path h="4404189" w="10734675">
                <a:moveTo>
                  <a:pt x="0" y="0"/>
                </a:moveTo>
                <a:lnTo>
                  <a:pt x="10734675" y="0"/>
                </a:lnTo>
                <a:lnTo>
                  <a:pt x="10734675" y="4404188"/>
                </a:lnTo>
                <a:lnTo>
                  <a:pt x="0" y="4404188"/>
                </a:lnTo>
                <a:lnTo>
                  <a:pt x="0" y="0"/>
                </a:lnTo>
                <a:close/>
              </a:path>
            </a:pathLst>
          </a:custGeom>
          <a:blipFill>
            <a:blip r:embed="rId3"/>
            <a:stretch>
              <a:fillRect l="0" t="0" r="-5278" b="-10339"/>
            </a:stretch>
          </a:blipFill>
        </p:spPr>
      </p:sp>
      <p:sp>
        <p:nvSpPr>
          <p:cNvPr name="Freeform 4" id="4"/>
          <p:cNvSpPr/>
          <p:nvPr/>
        </p:nvSpPr>
        <p:spPr>
          <a:xfrm flipH="false" flipV="false" rot="0">
            <a:off x="7553325" y="7063630"/>
            <a:ext cx="10734675" cy="3223370"/>
          </a:xfrm>
          <a:custGeom>
            <a:avLst/>
            <a:gdLst/>
            <a:ahLst/>
            <a:cxnLst/>
            <a:rect r="r" b="b" t="t" l="l"/>
            <a:pathLst>
              <a:path h="3223370" w="10734675">
                <a:moveTo>
                  <a:pt x="0" y="0"/>
                </a:moveTo>
                <a:lnTo>
                  <a:pt x="10734675" y="0"/>
                </a:lnTo>
                <a:lnTo>
                  <a:pt x="10734675" y="3223370"/>
                </a:lnTo>
                <a:lnTo>
                  <a:pt x="0" y="3223370"/>
                </a:lnTo>
                <a:lnTo>
                  <a:pt x="0" y="0"/>
                </a:lnTo>
                <a:close/>
              </a:path>
            </a:pathLst>
          </a:custGeom>
          <a:blipFill>
            <a:blip r:embed="rId4"/>
            <a:stretch>
              <a:fillRect l="-2672" t="0" r="-7950" b="-60717"/>
            </a:stretch>
          </a:blipFill>
        </p:spPr>
      </p:sp>
      <p:sp>
        <p:nvSpPr>
          <p:cNvPr name="TextBox 5" id="5"/>
          <p:cNvSpPr txBox="true"/>
          <p:nvPr/>
        </p:nvSpPr>
        <p:spPr>
          <a:xfrm rot="0">
            <a:off x="666750" y="5810012"/>
            <a:ext cx="5355146" cy="1494301"/>
          </a:xfrm>
          <a:prstGeom prst="rect">
            <a:avLst/>
          </a:prstGeom>
        </p:spPr>
        <p:txBody>
          <a:bodyPr anchor="t" rtlCol="false" tIns="0" lIns="0" bIns="0" rIns="0">
            <a:spAutoFit/>
          </a:bodyPr>
          <a:lstStyle/>
          <a:p>
            <a:pPr algn="l">
              <a:lnSpc>
                <a:spcPts val="5998"/>
              </a:lnSpc>
            </a:pPr>
            <a:r>
              <a:rPr lang="en-US" sz="4299">
                <a:solidFill>
                  <a:srgbClr val="C6C8D1"/>
                </a:solidFill>
                <a:latin typeface="Georgia Pro Condensed Light"/>
                <a:ea typeface="Georgia Pro Condensed Light"/>
                <a:cs typeface="Georgia Pro Condensed Light"/>
                <a:sym typeface="Georgia Pro Condensed Light"/>
              </a:rPr>
              <a:t>Capturing Essential User Details Securely</a:t>
            </a:r>
          </a:p>
        </p:txBody>
      </p:sp>
      <p:sp>
        <p:nvSpPr>
          <p:cNvPr name="TextBox 6" id="6"/>
          <p:cNvSpPr txBox="true"/>
          <p:nvPr/>
        </p:nvSpPr>
        <p:spPr>
          <a:xfrm rot="0">
            <a:off x="1229573" y="7165496"/>
            <a:ext cx="74085" cy="724138"/>
          </a:xfrm>
          <a:prstGeom prst="rect">
            <a:avLst/>
          </a:prstGeom>
        </p:spPr>
        <p:txBody>
          <a:bodyPr anchor="t" rtlCol="false" tIns="0" lIns="0" bIns="0" rIns="0">
            <a:spAutoFit/>
          </a:bodyPr>
          <a:lstStyle/>
          <a:p>
            <a:pPr algn="l">
              <a:lnSpc>
                <a:spcPts val="6498"/>
              </a:lnSpc>
            </a:pPr>
            <a:r>
              <a:rPr lang="en-US" sz="2599">
                <a:solidFill>
                  <a:srgbClr val="C6C8D1"/>
                </a:solidFill>
                <a:latin typeface="TT Interphases"/>
                <a:ea typeface="TT Interphases"/>
                <a:cs typeface="TT Interphases"/>
                <a:sym typeface="TT Interphases"/>
              </a:rPr>
              <a:t> </a:t>
            </a:r>
          </a:p>
        </p:txBody>
      </p:sp>
      <p:sp>
        <p:nvSpPr>
          <p:cNvPr name="TextBox 7" id="7"/>
          <p:cNvSpPr txBox="true"/>
          <p:nvPr/>
        </p:nvSpPr>
        <p:spPr>
          <a:xfrm rot="0">
            <a:off x="681761" y="7432196"/>
            <a:ext cx="5340134" cy="2282075"/>
          </a:xfrm>
          <a:prstGeom prst="rect">
            <a:avLst/>
          </a:prstGeom>
        </p:spPr>
        <p:txBody>
          <a:bodyPr anchor="t" rtlCol="false" tIns="0" lIns="0" bIns="0" rIns="0">
            <a:spAutoFit/>
          </a:bodyPr>
          <a:lstStyle/>
          <a:p>
            <a:pPr algn="l">
              <a:lnSpc>
                <a:spcPts val="3600"/>
              </a:lnSpc>
            </a:pPr>
            <a:r>
              <a:rPr lang="en-US" sz="2599">
                <a:solidFill>
                  <a:srgbClr val="C6C8D1"/>
                </a:solidFill>
                <a:latin typeface="TT Interphases"/>
                <a:ea typeface="TT Interphases"/>
                <a:cs typeface="TT Interphases"/>
                <a:sym typeface="TT Interphases"/>
              </a:rPr>
              <a:t>The registration and login page is designed to safeguard user information while ensuring a smooth experience for cancer risk assessment.</a:t>
            </a:r>
          </a:p>
        </p:txBody>
      </p:sp>
      <p:sp>
        <p:nvSpPr>
          <p:cNvPr name="TextBox 8" id="8"/>
          <p:cNvSpPr txBox="true"/>
          <p:nvPr/>
        </p:nvSpPr>
        <p:spPr>
          <a:xfrm rot="0">
            <a:off x="320964" y="695125"/>
            <a:ext cx="6794621" cy="1334738"/>
          </a:xfrm>
          <a:prstGeom prst="rect">
            <a:avLst/>
          </a:prstGeom>
        </p:spPr>
        <p:txBody>
          <a:bodyPr anchor="t" rtlCol="false" tIns="0" lIns="0" bIns="0" rIns="0">
            <a:spAutoFit/>
          </a:bodyPr>
          <a:lstStyle/>
          <a:p>
            <a:pPr algn="l">
              <a:lnSpc>
                <a:spcPts val="10918"/>
              </a:lnSpc>
            </a:pPr>
            <a:r>
              <a:rPr lang="en-US" sz="7799">
                <a:solidFill>
                  <a:srgbClr val="E7E6E1"/>
                </a:solidFill>
                <a:latin typeface="Georgia Pro Condensed Light"/>
                <a:ea typeface="Georgia Pro Condensed Light"/>
                <a:cs typeface="Georgia Pro Condensed Light"/>
                <a:sym typeface="Georgia Pro Condensed Light"/>
              </a:rPr>
              <a:t>User Registration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Freeform 2" id="2"/>
          <p:cNvSpPr/>
          <p:nvPr/>
        </p:nvSpPr>
        <p:spPr>
          <a:xfrm flipH="false" flipV="false" rot="0">
            <a:off x="666750" y="2929423"/>
            <a:ext cx="4314825" cy="3557102"/>
          </a:xfrm>
          <a:custGeom>
            <a:avLst/>
            <a:gdLst/>
            <a:ahLst/>
            <a:cxnLst/>
            <a:rect r="r" b="b" t="t" l="l"/>
            <a:pathLst>
              <a:path h="3557102" w="4314825">
                <a:moveTo>
                  <a:pt x="0" y="0"/>
                </a:moveTo>
                <a:lnTo>
                  <a:pt x="4314825" y="0"/>
                </a:lnTo>
                <a:lnTo>
                  <a:pt x="4314825" y="3557102"/>
                </a:lnTo>
                <a:lnTo>
                  <a:pt x="0" y="3557102"/>
                </a:lnTo>
                <a:lnTo>
                  <a:pt x="0" y="0"/>
                </a:lnTo>
                <a:close/>
              </a:path>
            </a:pathLst>
          </a:custGeom>
          <a:blipFill>
            <a:blip r:embed="rId2"/>
            <a:stretch>
              <a:fillRect l="-115" t="0" r="-35" b="0"/>
            </a:stretch>
          </a:blipFill>
        </p:spPr>
      </p:sp>
      <p:sp>
        <p:nvSpPr>
          <p:cNvPr name="Freeform 3" id="3"/>
          <p:cNvSpPr/>
          <p:nvPr/>
        </p:nvSpPr>
        <p:spPr>
          <a:xfrm flipH="false" flipV="false" rot="0">
            <a:off x="13611225" y="2905125"/>
            <a:ext cx="4672613" cy="3581400"/>
          </a:xfrm>
          <a:custGeom>
            <a:avLst/>
            <a:gdLst/>
            <a:ahLst/>
            <a:cxnLst/>
            <a:rect r="r" b="b" t="t" l="l"/>
            <a:pathLst>
              <a:path h="3581400" w="4672613">
                <a:moveTo>
                  <a:pt x="0" y="0"/>
                </a:moveTo>
                <a:lnTo>
                  <a:pt x="4672613" y="0"/>
                </a:lnTo>
                <a:lnTo>
                  <a:pt x="4672613" y="3581400"/>
                </a:lnTo>
                <a:lnTo>
                  <a:pt x="0" y="3581400"/>
                </a:lnTo>
                <a:lnTo>
                  <a:pt x="0" y="0"/>
                </a:lnTo>
                <a:close/>
              </a:path>
            </a:pathLst>
          </a:custGeom>
          <a:blipFill>
            <a:blip r:embed="rId3"/>
            <a:stretch>
              <a:fillRect l="-51" t="0" r="-247" b="0"/>
            </a:stretch>
          </a:blipFill>
        </p:spPr>
      </p:sp>
      <p:sp>
        <p:nvSpPr>
          <p:cNvPr name="Freeform 4" id="4"/>
          <p:cNvSpPr/>
          <p:nvPr/>
        </p:nvSpPr>
        <p:spPr>
          <a:xfrm flipH="false" flipV="false" rot="0">
            <a:off x="7291388" y="4248150"/>
            <a:ext cx="4010025" cy="3581400"/>
          </a:xfrm>
          <a:custGeom>
            <a:avLst/>
            <a:gdLst/>
            <a:ahLst/>
            <a:cxnLst/>
            <a:rect r="r" b="b" t="t" l="l"/>
            <a:pathLst>
              <a:path h="3581400" w="4010025">
                <a:moveTo>
                  <a:pt x="0" y="0"/>
                </a:moveTo>
                <a:lnTo>
                  <a:pt x="4010024" y="0"/>
                </a:lnTo>
                <a:lnTo>
                  <a:pt x="4010024" y="3581400"/>
                </a:lnTo>
                <a:lnTo>
                  <a:pt x="0" y="3581400"/>
                </a:lnTo>
                <a:lnTo>
                  <a:pt x="0" y="0"/>
                </a:lnTo>
                <a:close/>
              </a:path>
            </a:pathLst>
          </a:custGeom>
          <a:blipFill>
            <a:blip r:embed="rId4"/>
            <a:stretch>
              <a:fillRect l="-104" t="0" r="-21" b="0"/>
            </a:stretch>
          </a:blipFill>
        </p:spPr>
      </p:sp>
      <p:sp>
        <p:nvSpPr>
          <p:cNvPr name="TextBox 5" id="5"/>
          <p:cNvSpPr txBox="true"/>
          <p:nvPr/>
        </p:nvSpPr>
        <p:spPr>
          <a:xfrm rot="0">
            <a:off x="666750" y="1193635"/>
            <a:ext cx="12083682" cy="1445762"/>
          </a:xfrm>
          <a:prstGeom prst="rect">
            <a:avLst/>
          </a:prstGeom>
        </p:spPr>
        <p:txBody>
          <a:bodyPr anchor="t" rtlCol="false" tIns="0" lIns="0" bIns="0" rIns="0">
            <a:spAutoFit/>
          </a:bodyPr>
          <a:lstStyle/>
          <a:p>
            <a:pPr algn="l">
              <a:lnSpc>
                <a:spcPts val="4169"/>
              </a:lnSpc>
            </a:pPr>
            <a:r>
              <a:rPr lang="en-US" sz="7499">
                <a:solidFill>
                  <a:srgbClr val="E7E6E1"/>
                </a:solidFill>
                <a:latin typeface="Georgia Pro Condensed Light"/>
                <a:ea typeface="Georgia Pro Condensed Light"/>
                <a:cs typeface="Georgia Pro Condensed Light"/>
                <a:sym typeface="Georgia Pro Condensed Light"/>
              </a:rPr>
              <a:t>Secure User Login Functionality</a:t>
            </a:r>
          </a:p>
          <a:p>
            <a:pPr algn="l">
              <a:lnSpc>
                <a:spcPts val="7998"/>
              </a:lnSpc>
            </a:pPr>
            <a:r>
              <a:rPr lang="en-US" sz="3199">
                <a:solidFill>
                  <a:srgbClr val="E7E6E1"/>
                </a:solidFill>
                <a:latin typeface="Georgia Pro Condensed Light"/>
                <a:ea typeface="Georgia Pro Condensed Light"/>
                <a:cs typeface="Georgia Pro Condensed Light"/>
                <a:sym typeface="Georgia Pro Condensed Light"/>
              </a:rPr>
              <a:t>01</a:t>
            </a:r>
          </a:p>
        </p:txBody>
      </p:sp>
      <p:sp>
        <p:nvSpPr>
          <p:cNvPr name="TextBox 6" id="6"/>
          <p:cNvSpPr txBox="true"/>
          <p:nvPr/>
        </p:nvSpPr>
        <p:spPr>
          <a:xfrm rot="0">
            <a:off x="666750" y="6668986"/>
            <a:ext cx="4065927" cy="1645406"/>
          </a:xfrm>
          <a:prstGeom prst="rect">
            <a:avLst/>
          </a:prstGeom>
        </p:spPr>
        <p:txBody>
          <a:bodyPr anchor="t" rtlCol="false" tIns="0" lIns="0" bIns="0" rIns="0">
            <a:spAutoFit/>
          </a:bodyPr>
          <a:lstStyle/>
          <a:p>
            <a:pPr algn="l">
              <a:lnSpc>
                <a:spcPts val="4759"/>
              </a:lnSpc>
            </a:pPr>
            <a:r>
              <a:rPr lang="en-US" sz="3399">
                <a:solidFill>
                  <a:srgbClr val="E7E6E1"/>
                </a:solidFill>
                <a:latin typeface="Georgia Pro Condensed Light"/>
                <a:ea typeface="Georgia Pro Condensed Light"/>
                <a:cs typeface="Georgia Pro Condensed Light"/>
                <a:sym typeface="Georgia Pro Condensed Light"/>
              </a:rPr>
              <a:t>Access</a:t>
            </a:r>
          </a:p>
          <a:p>
            <a:pPr algn="l">
              <a:lnSpc>
                <a:spcPts val="3749"/>
              </a:lnSpc>
            </a:pPr>
            <a:r>
              <a:rPr lang="en-US" sz="2699">
                <a:solidFill>
                  <a:srgbClr val="C6C8D1"/>
                </a:solidFill>
                <a:latin typeface="TT Interphases"/>
                <a:ea typeface="TT Interphases"/>
                <a:cs typeface="TT Interphases"/>
                <a:sym typeface="TT Interphases"/>
              </a:rPr>
              <a:t>Users can securely access their accounts anytime.</a:t>
            </a:r>
          </a:p>
        </p:txBody>
      </p:sp>
      <p:sp>
        <p:nvSpPr>
          <p:cNvPr name="TextBox 7" id="7"/>
          <p:cNvSpPr txBox="true"/>
          <p:nvPr/>
        </p:nvSpPr>
        <p:spPr>
          <a:xfrm rot="0">
            <a:off x="7291388" y="7935449"/>
            <a:ext cx="3833451" cy="2121656"/>
          </a:xfrm>
          <a:prstGeom prst="rect">
            <a:avLst/>
          </a:prstGeom>
        </p:spPr>
        <p:txBody>
          <a:bodyPr anchor="t" rtlCol="false" tIns="0" lIns="0" bIns="0" rIns="0">
            <a:spAutoFit/>
          </a:bodyPr>
          <a:lstStyle/>
          <a:p>
            <a:pPr algn="l">
              <a:lnSpc>
                <a:spcPts val="4759"/>
              </a:lnSpc>
            </a:pPr>
            <a:r>
              <a:rPr lang="en-US" sz="3399">
                <a:solidFill>
                  <a:srgbClr val="E7E6E1"/>
                </a:solidFill>
                <a:latin typeface="Georgia Pro Condensed Light"/>
                <a:ea typeface="Georgia Pro Condensed Light"/>
                <a:cs typeface="Georgia Pro Condensed Light"/>
                <a:sym typeface="Georgia Pro Condensed Light"/>
              </a:rPr>
              <a:t>Verification</a:t>
            </a:r>
          </a:p>
          <a:p>
            <a:pPr algn="l">
              <a:lnSpc>
                <a:spcPts val="3749"/>
              </a:lnSpc>
            </a:pPr>
            <a:r>
              <a:rPr lang="en-US" sz="2699">
                <a:solidFill>
                  <a:srgbClr val="C6C8D1"/>
                </a:solidFill>
                <a:latin typeface="TT Interphases"/>
                <a:ea typeface="TT Interphases"/>
                <a:cs typeface="TT Interphases"/>
                <a:sym typeface="TT Interphases"/>
              </a:rPr>
              <a:t>Multi-factor authentication enhances user account security.</a:t>
            </a:r>
          </a:p>
        </p:txBody>
      </p:sp>
      <p:sp>
        <p:nvSpPr>
          <p:cNvPr name="TextBox 8" id="8"/>
          <p:cNvSpPr txBox="true"/>
          <p:nvPr/>
        </p:nvSpPr>
        <p:spPr>
          <a:xfrm rot="0">
            <a:off x="13611225" y="6592786"/>
            <a:ext cx="1256871" cy="654110"/>
          </a:xfrm>
          <a:prstGeom prst="rect">
            <a:avLst/>
          </a:prstGeom>
        </p:spPr>
        <p:txBody>
          <a:bodyPr anchor="t" rtlCol="false" tIns="0" lIns="0" bIns="0" rIns="0">
            <a:spAutoFit/>
          </a:bodyPr>
          <a:lstStyle/>
          <a:p>
            <a:pPr algn="l">
              <a:lnSpc>
                <a:spcPts val="5568"/>
              </a:lnSpc>
            </a:pPr>
            <a:r>
              <a:rPr lang="en-US" sz="3399">
                <a:solidFill>
                  <a:srgbClr val="E7E6E1"/>
                </a:solidFill>
                <a:latin typeface="Georgia Pro Condensed Light"/>
                <a:ea typeface="Georgia Pro Condensed Light"/>
                <a:cs typeface="Georgia Pro Condensed Light"/>
                <a:sym typeface="Georgia Pro Condensed Light"/>
              </a:rPr>
              <a:t>Privacy</a:t>
            </a:r>
          </a:p>
        </p:txBody>
      </p:sp>
      <p:sp>
        <p:nvSpPr>
          <p:cNvPr name="TextBox 9" id="9"/>
          <p:cNvSpPr txBox="true"/>
          <p:nvPr/>
        </p:nvSpPr>
        <p:spPr>
          <a:xfrm rot="0">
            <a:off x="14315580" y="7215235"/>
            <a:ext cx="76924" cy="606152"/>
          </a:xfrm>
          <a:prstGeom prst="rect">
            <a:avLst/>
          </a:prstGeom>
        </p:spPr>
        <p:txBody>
          <a:bodyPr anchor="t" rtlCol="false" tIns="0" lIns="0" bIns="0" rIns="0">
            <a:spAutoFit/>
          </a:bodyPr>
          <a:lstStyle/>
          <a:p>
            <a:pPr algn="l">
              <a:lnSpc>
                <a:spcPts val="5182"/>
              </a:lnSpc>
            </a:pPr>
            <a:r>
              <a:rPr lang="en-US" sz="2699">
                <a:solidFill>
                  <a:srgbClr val="C6C8D1"/>
                </a:solidFill>
                <a:latin typeface="TT Interphases"/>
                <a:ea typeface="TT Interphases"/>
                <a:cs typeface="TT Interphases"/>
                <a:sym typeface="TT Interphases"/>
              </a:rPr>
              <a:t> </a:t>
            </a:r>
          </a:p>
        </p:txBody>
      </p:sp>
      <p:sp>
        <p:nvSpPr>
          <p:cNvPr name="TextBox 10" id="10"/>
          <p:cNvSpPr txBox="true"/>
          <p:nvPr/>
        </p:nvSpPr>
        <p:spPr>
          <a:xfrm rot="0">
            <a:off x="13611225" y="7348585"/>
            <a:ext cx="3429657" cy="472802"/>
          </a:xfrm>
          <a:prstGeom prst="rect">
            <a:avLst/>
          </a:prstGeom>
        </p:spPr>
        <p:txBody>
          <a:bodyPr anchor="t" rtlCol="false" tIns="0" lIns="0" bIns="0" rIns="0">
            <a:spAutoFit/>
          </a:bodyPr>
          <a:lstStyle/>
          <a:p>
            <a:pPr algn="l">
              <a:lnSpc>
                <a:spcPts val="3749"/>
              </a:lnSpc>
            </a:pPr>
            <a:r>
              <a:rPr lang="en-US" sz="2699">
                <a:solidFill>
                  <a:srgbClr val="C6C8D1"/>
                </a:solidFill>
                <a:latin typeface="TT Interphases"/>
                <a:ea typeface="TT Interphases"/>
                <a:cs typeface="TT Interphases"/>
                <a:sym typeface="TT Interphases"/>
              </a:rPr>
              <a:t>Userdata is protected</a:t>
            </a:r>
          </a:p>
        </p:txBody>
      </p:sp>
      <p:sp>
        <p:nvSpPr>
          <p:cNvPr name="TextBox 11" id="11"/>
          <p:cNvSpPr txBox="true"/>
          <p:nvPr/>
        </p:nvSpPr>
        <p:spPr>
          <a:xfrm rot="0">
            <a:off x="13611225" y="7824835"/>
            <a:ext cx="3634169" cy="949052"/>
          </a:xfrm>
          <a:prstGeom prst="rect">
            <a:avLst/>
          </a:prstGeom>
        </p:spPr>
        <p:txBody>
          <a:bodyPr anchor="t" rtlCol="false" tIns="0" lIns="0" bIns="0" rIns="0">
            <a:spAutoFit/>
          </a:bodyPr>
          <a:lstStyle/>
          <a:p>
            <a:pPr algn="l">
              <a:lnSpc>
                <a:spcPts val="3749"/>
              </a:lnSpc>
            </a:pPr>
            <a:r>
              <a:rPr lang="en-US" sz="2699">
                <a:solidFill>
                  <a:srgbClr val="C6C8D1"/>
                </a:solidFill>
                <a:latin typeface="TT Interphases"/>
                <a:ea typeface="TT Interphases"/>
                <a:cs typeface="TT Interphases"/>
                <a:sym typeface="TT Interphases"/>
              </a:rPr>
              <a:t>through robust security measures.</a:t>
            </a:r>
          </a:p>
        </p:txBody>
      </p:sp>
      <p:sp>
        <p:nvSpPr>
          <p:cNvPr name="TextBox 12" id="12"/>
          <p:cNvSpPr txBox="true"/>
          <p:nvPr/>
        </p:nvSpPr>
        <p:spPr>
          <a:xfrm rot="0">
            <a:off x="7291388" y="3457242"/>
            <a:ext cx="422539" cy="538277"/>
          </a:xfrm>
          <a:prstGeom prst="rect">
            <a:avLst/>
          </a:prstGeom>
        </p:spPr>
        <p:txBody>
          <a:bodyPr anchor="t" rtlCol="false" tIns="0" lIns="0" bIns="0" rIns="0">
            <a:spAutoFit/>
          </a:bodyPr>
          <a:lstStyle/>
          <a:p>
            <a:pPr algn="l">
              <a:lnSpc>
                <a:spcPts val="4479"/>
              </a:lnSpc>
            </a:pPr>
            <a:r>
              <a:rPr lang="en-US" sz="3199">
                <a:solidFill>
                  <a:srgbClr val="E7E6E1"/>
                </a:solidFill>
                <a:latin typeface="Georgia Pro Condensed Light"/>
                <a:ea typeface="Georgia Pro Condensed Light"/>
                <a:cs typeface="Georgia Pro Condensed Light"/>
                <a:sym typeface="Georgia Pro Condensed Light"/>
              </a:rPr>
              <a:t>02</a:t>
            </a:r>
          </a:p>
        </p:txBody>
      </p:sp>
      <p:sp>
        <p:nvSpPr>
          <p:cNvPr name="TextBox 13" id="13"/>
          <p:cNvSpPr txBox="true"/>
          <p:nvPr/>
        </p:nvSpPr>
        <p:spPr>
          <a:xfrm rot="0">
            <a:off x="13611225" y="2075917"/>
            <a:ext cx="422539" cy="538277"/>
          </a:xfrm>
          <a:prstGeom prst="rect">
            <a:avLst/>
          </a:prstGeom>
        </p:spPr>
        <p:txBody>
          <a:bodyPr anchor="t" rtlCol="false" tIns="0" lIns="0" bIns="0" rIns="0">
            <a:spAutoFit/>
          </a:bodyPr>
          <a:lstStyle/>
          <a:p>
            <a:pPr algn="l">
              <a:lnSpc>
                <a:spcPts val="4479"/>
              </a:lnSpc>
            </a:pPr>
            <a:r>
              <a:rPr lang="en-US" sz="3199">
                <a:solidFill>
                  <a:srgbClr val="E7E6E1"/>
                </a:solidFill>
                <a:latin typeface="Georgia Pro Condensed Light"/>
                <a:ea typeface="Georgia Pro Condensed Light"/>
                <a:cs typeface="Georgia Pro Condensed Light"/>
                <a:sym typeface="Georgia Pro Condensed Light"/>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6213E"/>
        </a:solidFill>
      </p:bgPr>
    </p:bg>
    <p:spTree>
      <p:nvGrpSpPr>
        <p:cNvPr id="1" name=""/>
        <p:cNvGrpSpPr/>
        <p:nvPr/>
      </p:nvGrpSpPr>
      <p:grpSpPr>
        <a:xfrm>
          <a:off x="0" y="0"/>
          <a:ext cx="0" cy="0"/>
          <a:chOff x="0" y="0"/>
          <a:chExt cx="0" cy="0"/>
        </a:xfrm>
      </p:grpSpPr>
      <p:sp>
        <p:nvSpPr>
          <p:cNvPr name="Freeform 2" id="2"/>
          <p:cNvSpPr/>
          <p:nvPr/>
        </p:nvSpPr>
        <p:spPr>
          <a:xfrm flipH="false" flipV="false" rot="0">
            <a:off x="13586127" y="1801222"/>
            <a:ext cx="4701873" cy="6748355"/>
          </a:xfrm>
          <a:custGeom>
            <a:avLst/>
            <a:gdLst/>
            <a:ahLst/>
            <a:cxnLst/>
            <a:rect r="r" b="b" t="t" l="l"/>
            <a:pathLst>
              <a:path h="6748355" w="4701873">
                <a:moveTo>
                  <a:pt x="0" y="0"/>
                </a:moveTo>
                <a:lnTo>
                  <a:pt x="4701873" y="0"/>
                </a:lnTo>
                <a:lnTo>
                  <a:pt x="4701873" y="6748355"/>
                </a:lnTo>
                <a:lnTo>
                  <a:pt x="0" y="6748355"/>
                </a:lnTo>
                <a:lnTo>
                  <a:pt x="0" y="0"/>
                </a:lnTo>
                <a:close/>
              </a:path>
            </a:pathLst>
          </a:custGeom>
          <a:blipFill>
            <a:blip r:embed="rId2"/>
            <a:stretch>
              <a:fillRect l="-915" t="0" r="-915" b="0"/>
            </a:stretch>
          </a:blipFill>
        </p:spPr>
      </p:sp>
      <p:sp>
        <p:nvSpPr>
          <p:cNvPr name="Freeform 3" id="3"/>
          <p:cNvSpPr/>
          <p:nvPr/>
        </p:nvSpPr>
        <p:spPr>
          <a:xfrm flipH="false" flipV="false" rot="0">
            <a:off x="8943724" y="1801222"/>
            <a:ext cx="4642403" cy="6748355"/>
          </a:xfrm>
          <a:custGeom>
            <a:avLst/>
            <a:gdLst/>
            <a:ahLst/>
            <a:cxnLst/>
            <a:rect r="r" b="b" t="t" l="l"/>
            <a:pathLst>
              <a:path h="6748355" w="4642403">
                <a:moveTo>
                  <a:pt x="0" y="0"/>
                </a:moveTo>
                <a:lnTo>
                  <a:pt x="4642403" y="0"/>
                </a:lnTo>
                <a:lnTo>
                  <a:pt x="4642403" y="6748355"/>
                </a:lnTo>
                <a:lnTo>
                  <a:pt x="0" y="6748355"/>
                </a:lnTo>
                <a:lnTo>
                  <a:pt x="0" y="0"/>
                </a:lnTo>
                <a:close/>
              </a:path>
            </a:pathLst>
          </a:custGeom>
          <a:blipFill>
            <a:blip r:embed="rId3"/>
            <a:stretch>
              <a:fillRect l="0" t="0" r="0" b="0"/>
            </a:stretch>
          </a:blipFill>
        </p:spPr>
      </p:sp>
      <p:sp>
        <p:nvSpPr>
          <p:cNvPr name="TextBox 4" id="4"/>
          <p:cNvSpPr txBox="true"/>
          <p:nvPr/>
        </p:nvSpPr>
        <p:spPr>
          <a:xfrm rot="0">
            <a:off x="666750" y="5251447"/>
            <a:ext cx="5454310" cy="1212037"/>
          </a:xfrm>
          <a:prstGeom prst="rect">
            <a:avLst/>
          </a:prstGeom>
        </p:spPr>
        <p:txBody>
          <a:bodyPr anchor="t" rtlCol="false" tIns="0" lIns="0" bIns="0" rIns="0">
            <a:spAutoFit/>
          </a:bodyPr>
          <a:lstStyle/>
          <a:p>
            <a:pPr algn="l">
              <a:lnSpc>
                <a:spcPts val="4874"/>
              </a:lnSpc>
            </a:pPr>
            <a:r>
              <a:rPr lang="en-US" sz="3499">
                <a:solidFill>
                  <a:srgbClr val="C6C8D1"/>
                </a:solidFill>
                <a:latin typeface="Georgia Pro Condensed Light"/>
                <a:ea typeface="Georgia Pro Condensed Light"/>
                <a:cs typeface="Georgia Pro Condensed Light"/>
                <a:sym typeface="Georgia Pro Condensed Light"/>
              </a:rPr>
              <a:t>Collecting Data for Cancer Risk Assessment</a:t>
            </a:r>
          </a:p>
        </p:txBody>
      </p:sp>
      <p:sp>
        <p:nvSpPr>
          <p:cNvPr name="TextBox 5" id="5"/>
          <p:cNvSpPr txBox="true"/>
          <p:nvPr/>
        </p:nvSpPr>
        <p:spPr>
          <a:xfrm rot="0">
            <a:off x="1270835" y="6196784"/>
            <a:ext cx="74085" cy="724138"/>
          </a:xfrm>
          <a:prstGeom prst="rect">
            <a:avLst/>
          </a:prstGeom>
        </p:spPr>
        <p:txBody>
          <a:bodyPr anchor="t" rtlCol="false" tIns="0" lIns="0" bIns="0" rIns="0">
            <a:spAutoFit/>
          </a:bodyPr>
          <a:lstStyle/>
          <a:p>
            <a:pPr algn="l">
              <a:lnSpc>
                <a:spcPts val="6498"/>
              </a:lnSpc>
            </a:pPr>
            <a:r>
              <a:rPr lang="en-US" sz="2599">
                <a:solidFill>
                  <a:srgbClr val="C6C8D1"/>
                </a:solidFill>
                <a:latin typeface="TT Interphases"/>
                <a:ea typeface="TT Interphases"/>
                <a:cs typeface="TT Interphases"/>
                <a:sym typeface="TT Interphases"/>
              </a:rPr>
              <a:t> </a:t>
            </a:r>
          </a:p>
        </p:txBody>
      </p:sp>
      <p:sp>
        <p:nvSpPr>
          <p:cNvPr name="TextBox 6" id="6"/>
          <p:cNvSpPr txBox="true"/>
          <p:nvPr/>
        </p:nvSpPr>
        <p:spPr>
          <a:xfrm rot="0">
            <a:off x="666750" y="6724702"/>
            <a:ext cx="5543836" cy="1824875"/>
          </a:xfrm>
          <a:prstGeom prst="rect">
            <a:avLst/>
          </a:prstGeom>
        </p:spPr>
        <p:txBody>
          <a:bodyPr anchor="t" rtlCol="false" tIns="0" lIns="0" bIns="0" rIns="0">
            <a:spAutoFit/>
          </a:bodyPr>
          <a:lstStyle/>
          <a:p>
            <a:pPr algn="l">
              <a:lnSpc>
                <a:spcPts val="3600"/>
              </a:lnSpc>
            </a:pPr>
            <a:r>
              <a:rPr lang="en-US" sz="2599">
                <a:solidFill>
                  <a:srgbClr val="C6C8D1"/>
                </a:solidFill>
                <a:latin typeface="TT Interphases"/>
                <a:ea typeface="TT Interphases"/>
                <a:cs typeface="TT Interphases"/>
                <a:sym typeface="TT Interphases"/>
              </a:rPr>
              <a:t>This portion,  users can select or enter the symptoms they are experiencing from a predefined list categorized by cancer types</a:t>
            </a:r>
          </a:p>
        </p:txBody>
      </p:sp>
      <p:sp>
        <p:nvSpPr>
          <p:cNvPr name="TextBox 7" id="7"/>
          <p:cNvSpPr txBox="true"/>
          <p:nvPr/>
        </p:nvSpPr>
        <p:spPr>
          <a:xfrm rot="0">
            <a:off x="514350" y="2312175"/>
            <a:ext cx="6021610" cy="1304744"/>
          </a:xfrm>
          <a:prstGeom prst="rect">
            <a:avLst/>
          </a:prstGeom>
        </p:spPr>
        <p:txBody>
          <a:bodyPr anchor="t" rtlCol="false" tIns="0" lIns="0" bIns="0" rIns="0">
            <a:spAutoFit/>
          </a:bodyPr>
          <a:lstStyle/>
          <a:p>
            <a:pPr algn="l">
              <a:lnSpc>
                <a:spcPts val="10639"/>
              </a:lnSpc>
            </a:pPr>
            <a:r>
              <a:rPr lang="en-US" sz="7599">
                <a:solidFill>
                  <a:srgbClr val="E7E6E1"/>
                </a:solidFill>
                <a:latin typeface="Georgia Pro Condensed Light"/>
                <a:ea typeface="Georgia Pro Condensed Light"/>
                <a:cs typeface="Georgia Pro Condensed Light"/>
                <a:sym typeface="Georgia Pro Condensed Light"/>
              </a:rPr>
              <a:t>Symptom Input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3460"/>
        </a:solidFill>
      </p:bgPr>
    </p:bg>
    <p:spTree>
      <p:nvGrpSpPr>
        <p:cNvPr id="1" name=""/>
        <p:cNvGrpSpPr/>
        <p:nvPr/>
      </p:nvGrpSpPr>
      <p:grpSpPr>
        <a:xfrm>
          <a:off x="0" y="0"/>
          <a:ext cx="0" cy="0"/>
          <a:chOff x="0" y="0"/>
          <a:chExt cx="0" cy="0"/>
        </a:xfrm>
      </p:grpSpPr>
      <p:sp>
        <p:nvSpPr>
          <p:cNvPr name="Freeform 2" id="2"/>
          <p:cNvSpPr/>
          <p:nvPr/>
        </p:nvSpPr>
        <p:spPr>
          <a:xfrm flipH="false" flipV="false" rot="0">
            <a:off x="666750" y="2929423"/>
            <a:ext cx="4314825" cy="3557102"/>
          </a:xfrm>
          <a:custGeom>
            <a:avLst/>
            <a:gdLst/>
            <a:ahLst/>
            <a:cxnLst/>
            <a:rect r="r" b="b" t="t" l="l"/>
            <a:pathLst>
              <a:path h="3557102" w="4314825">
                <a:moveTo>
                  <a:pt x="0" y="0"/>
                </a:moveTo>
                <a:lnTo>
                  <a:pt x="4314825" y="0"/>
                </a:lnTo>
                <a:lnTo>
                  <a:pt x="4314825" y="3557102"/>
                </a:lnTo>
                <a:lnTo>
                  <a:pt x="0" y="3557102"/>
                </a:lnTo>
                <a:lnTo>
                  <a:pt x="0" y="0"/>
                </a:lnTo>
                <a:close/>
              </a:path>
            </a:pathLst>
          </a:custGeom>
          <a:blipFill>
            <a:blip r:embed="rId2"/>
            <a:stretch>
              <a:fillRect l="-115" t="0" r="-35" b="0"/>
            </a:stretch>
          </a:blipFill>
        </p:spPr>
      </p:sp>
      <p:sp>
        <p:nvSpPr>
          <p:cNvPr name="Freeform 3" id="3"/>
          <p:cNvSpPr/>
          <p:nvPr/>
        </p:nvSpPr>
        <p:spPr>
          <a:xfrm flipH="false" flipV="false" rot="0">
            <a:off x="13611225" y="2905125"/>
            <a:ext cx="4672613" cy="3581400"/>
          </a:xfrm>
          <a:custGeom>
            <a:avLst/>
            <a:gdLst/>
            <a:ahLst/>
            <a:cxnLst/>
            <a:rect r="r" b="b" t="t" l="l"/>
            <a:pathLst>
              <a:path h="3581400" w="4672613">
                <a:moveTo>
                  <a:pt x="0" y="0"/>
                </a:moveTo>
                <a:lnTo>
                  <a:pt x="4672613" y="0"/>
                </a:lnTo>
                <a:lnTo>
                  <a:pt x="4672613" y="3581400"/>
                </a:lnTo>
                <a:lnTo>
                  <a:pt x="0" y="3581400"/>
                </a:lnTo>
                <a:lnTo>
                  <a:pt x="0" y="0"/>
                </a:lnTo>
                <a:close/>
              </a:path>
            </a:pathLst>
          </a:custGeom>
          <a:blipFill>
            <a:blip r:embed="rId3"/>
            <a:stretch>
              <a:fillRect l="-51" t="0" r="-247" b="0"/>
            </a:stretch>
          </a:blipFill>
        </p:spPr>
      </p:sp>
      <p:sp>
        <p:nvSpPr>
          <p:cNvPr name="Freeform 4" id="4"/>
          <p:cNvSpPr/>
          <p:nvPr/>
        </p:nvSpPr>
        <p:spPr>
          <a:xfrm flipH="false" flipV="false" rot="0">
            <a:off x="7291388" y="4248150"/>
            <a:ext cx="4010025" cy="3581400"/>
          </a:xfrm>
          <a:custGeom>
            <a:avLst/>
            <a:gdLst/>
            <a:ahLst/>
            <a:cxnLst/>
            <a:rect r="r" b="b" t="t" l="l"/>
            <a:pathLst>
              <a:path h="3581400" w="4010025">
                <a:moveTo>
                  <a:pt x="0" y="0"/>
                </a:moveTo>
                <a:lnTo>
                  <a:pt x="4010024" y="0"/>
                </a:lnTo>
                <a:lnTo>
                  <a:pt x="4010024" y="3581400"/>
                </a:lnTo>
                <a:lnTo>
                  <a:pt x="0" y="3581400"/>
                </a:lnTo>
                <a:lnTo>
                  <a:pt x="0" y="0"/>
                </a:lnTo>
                <a:close/>
              </a:path>
            </a:pathLst>
          </a:custGeom>
          <a:blipFill>
            <a:blip r:embed="rId4"/>
            <a:stretch>
              <a:fillRect l="-104" t="0" r="-21" b="0"/>
            </a:stretch>
          </a:blipFill>
        </p:spPr>
      </p:sp>
      <p:sp>
        <p:nvSpPr>
          <p:cNvPr name="TextBox 5" id="5"/>
          <p:cNvSpPr txBox="true"/>
          <p:nvPr/>
        </p:nvSpPr>
        <p:spPr>
          <a:xfrm rot="0">
            <a:off x="666750" y="1098385"/>
            <a:ext cx="14683902" cy="775278"/>
          </a:xfrm>
          <a:prstGeom prst="rect">
            <a:avLst/>
          </a:prstGeom>
        </p:spPr>
        <p:txBody>
          <a:bodyPr anchor="t" rtlCol="false" tIns="0" lIns="0" bIns="0" rIns="0">
            <a:spAutoFit/>
          </a:bodyPr>
          <a:lstStyle/>
          <a:p>
            <a:pPr algn="l">
              <a:lnSpc>
                <a:spcPts val="5121"/>
              </a:lnSpc>
            </a:pPr>
            <a:r>
              <a:rPr lang="en-US" sz="7499">
                <a:solidFill>
                  <a:srgbClr val="E7E6E1"/>
                </a:solidFill>
                <a:latin typeface="Georgia Pro Condensed Light"/>
                <a:ea typeface="Georgia Pro Condensed Light"/>
                <a:cs typeface="Georgia Pro Condensed Light"/>
                <a:sym typeface="Georgia Pro Condensed Light"/>
              </a:rPr>
              <a:t>Lung Cancer Symptom Input Overview</a:t>
            </a:r>
          </a:p>
        </p:txBody>
      </p:sp>
      <p:sp>
        <p:nvSpPr>
          <p:cNvPr name="TextBox 6" id="6"/>
          <p:cNvSpPr txBox="true"/>
          <p:nvPr/>
        </p:nvSpPr>
        <p:spPr>
          <a:xfrm rot="0">
            <a:off x="666750" y="1604401"/>
            <a:ext cx="422539" cy="871652"/>
          </a:xfrm>
          <a:prstGeom prst="rect">
            <a:avLst/>
          </a:prstGeom>
        </p:spPr>
        <p:txBody>
          <a:bodyPr anchor="t" rtlCol="false" tIns="0" lIns="0" bIns="0" rIns="0">
            <a:spAutoFit/>
          </a:bodyPr>
          <a:lstStyle/>
          <a:p>
            <a:pPr algn="l">
              <a:lnSpc>
                <a:spcPts val="7998"/>
              </a:lnSpc>
            </a:pPr>
            <a:r>
              <a:rPr lang="en-US" sz="3199">
                <a:solidFill>
                  <a:srgbClr val="E7E6E1"/>
                </a:solidFill>
                <a:latin typeface="Georgia Pro Condensed Light"/>
                <a:ea typeface="Georgia Pro Condensed Light"/>
                <a:cs typeface="Georgia Pro Condensed Light"/>
                <a:sym typeface="Georgia Pro Condensed Light"/>
              </a:rPr>
              <a:t>01</a:t>
            </a:r>
          </a:p>
        </p:txBody>
      </p:sp>
      <p:sp>
        <p:nvSpPr>
          <p:cNvPr name="TextBox 7" id="7"/>
          <p:cNvSpPr txBox="true"/>
          <p:nvPr/>
        </p:nvSpPr>
        <p:spPr>
          <a:xfrm rot="0">
            <a:off x="13611225" y="1604401"/>
            <a:ext cx="422539" cy="871652"/>
          </a:xfrm>
          <a:prstGeom prst="rect">
            <a:avLst/>
          </a:prstGeom>
        </p:spPr>
        <p:txBody>
          <a:bodyPr anchor="t" rtlCol="false" tIns="0" lIns="0" bIns="0" rIns="0">
            <a:spAutoFit/>
          </a:bodyPr>
          <a:lstStyle/>
          <a:p>
            <a:pPr algn="l">
              <a:lnSpc>
                <a:spcPts val="7998"/>
              </a:lnSpc>
            </a:pPr>
            <a:r>
              <a:rPr lang="en-US" sz="3199">
                <a:solidFill>
                  <a:srgbClr val="E7E6E1"/>
                </a:solidFill>
                <a:latin typeface="Georgia Pro Condensed Light"/>
                <a:ea typeface="Georgia Pro Condensed Light"/>
                <a:cs typeface="Georgia Pro Condensed Light"/>
                <a:sym typeface="Georgia Pro Condensed Light"/>
              </a:rPr>
              <a:t>03</a:t>
            </a:r>
          </a:p>
        </p:txBody>
      </p:sp>
      <p:sp>
        <p:nvSpPr>
          <p:cNvPr name="TextBox 8" id="8"/>
          <p:cNvSpPr txBox="true"/>
          <p:nvPr/>
        </p:nvSpPr>
        <p:spPr>
          <a:xfrm rot="0">
            <a:off x="666750" y="6915302"/>
            <a:ext cx="3258350" cy="1666084"/>
          </a:xfrm>
          <a:prstGeom prst="rect">
            <a:avLst/>
          </a:prstGeom>
        </p:spPr>
        <p:txBody>
          <a:bodyPr anchor="t" rtlCol="false" tIns="0" lIns="0" bIns="0" rIns="0">
            <a:spAutoFit/>
          </a:bodyPr>
          <a:lstStyle/>
          <a:p>
            <a:pPr algn="l">
              <a:lnSpc>
                <a:spcPts val="4899"/>
              </a:lnSpc>
            </a:pPr>
            <a:r>
              <a:rPr lang="en-US" sz="3499">
                <a:solidFill>
                  <a:srgbClr val="E7E6E1"/>
                </a:solidFill>
                <a:latin typeface="Georgia Pro Condensed Light"/>
                <a:ea typeface="Georgia Pro Condensed Light"/>
                <a:cs typeface="Georgia Pro Condensed Light"/>
                <a:sym typeface="Georgia Pro Condensed Light"/>
              </a:rPr>
              <a:t>Cough</a:t>
            </a:r>
          </a:p>
          <a:p>
            <a:pPr algn="l">
              <a:lnSpc>
                <a:spcPts val="3749"/>
              </a:lnSpc>
            </a:pPr>
            <a:r>
              <a:rPr lang="en-US" sz="2699">
                <a:solidFill>
                  <a:srgbClr val="C6C8D1"/>
                </a:solidFill>
                <a:latin typeface="TT Interphases"/>
                <a:ea typeface="TT Interphases"/>
                <a:cs typeface="TT Interphases"/>
                <a:sym typeface="TT Interphases"/>
              </a:rPr>
              <a:t>Persistent cough can indicate lung issues.</a:t>
            </a:r>
          </a:p>
        </p:txBody>
      </p:sp>
      <p:sp>
        <p:nvSpPr>
          <p:cNvPr name="TextBox 9" id="9"/>
          <p:cNvSpPr txBox="true"/>
          <p:nvPr/>
        </p:nvSpPr>
        <p:spPr>
          <a:xfrm rot="0">
            <a:off x="7291388" y="8125015"/>
            <a:ext cx="2569016" cy="669112"/>
          </a:xfrm>
          <a:prstGeom prst="rect">
            <a:avLst/>
          </a:prstGeom>
        </p:spPr>
        <p:txBody>
          <a:bodyPr anchor="t" rtlCol="false" tIns="0" lIns="0" bIns="0" rIns="0">
            <a:spAutoFit/>
          </a:bodyPr>
          <a:lstStyle/>
          <a:p>
            <a:pPr algn="l">
              <a:lnSpc>
                <a:spcPts val="5690"/>
              </a:lnSpc>
            </a:pPr>
            <a:r>
              <a:rPr lang="en-US" sz="3499">
                <a:solidFill>
                  <a:srgbClr val="E7E6E1"/>
                </a:solidFill>
                <a:latin typeface="Georgia Pro Condensed Light"/>
                <a:ea typeface="Georgia Pro Condensed Light"/>
                <a:cs typeface="Georgia Pro Condensed Light"/>
                <a:sym typeface="Georgia Pro Condensed Light"/>
              </a:rPr>
              <a:t>Breathlessness</a:t>
            </a:r>
          </a:p>
        </p:txBody>
      </p:sp>
      <p:sp>
        <p:nvSpPr>
          <p:cNvPr name="TextBox 10" id="10"/>
          <p:cNvSpPr txBox="true"/>
          <p:nvPr/>
        </p:nvSpPr>
        <p:spPr>
          <a:xfrm rot="0">
            <a:off x="8638394" y="8748798"/>
            <a:ext cx="76924" cy="625202"/>
          </a:xfrm>
          <a:prstGeom prst="rect">
            <a:avLst/>
          </a:prstGeom>
        </p:spPr>
        <p:txBody>
          <a:bodyPr anchor="t" rtlCol="false" tIns="0" lIns="0" bIns="0" rIns="0">
            <a:spAutoFit/>
          </a:bodyPr>
          <a:lstStyle/>
          <a:p>
            <a:pPr algn="l">
              <a:lnSpc>
                <a:spcPts val="5312"/>
              </a:lnSpc>
            </a:pPr>
            <a:r>
              <a:rPr lang="en-US" sz="2699">
                <a:solidFill>
                  <a:srgbClr val="C6C8D1"/>
                </a:solidFill>
                <a:latin typeface="TT Interphases"/>
                <a:ea typeface="TT Interphases"/>
                <a:cs typeface="TT Interphases"/>
                <a:sym typeface="TT Interphases"/>
              </a:rPr>
              <a:t> </a:t>
            </a:r>
          </a:p>
        </p:txBody>
      </p:sp>
      <p:sp>
        <p:nvSpPr>
          <p:cNvPr name="TextBox 11" id="11"/>
          <p:cNvSpPr txBox="true"/>
          <p:nvPr/>
        </p:nvSpPr>
        <p:spPr>
          <a:xfrm rot="0">
            <a:off x="7291388" y="8901198"/>
            <a:ext cx="4022236" cy="472802"/>
          </a:xfrm>
          <a:prstGeom prst="rect">
            <a:avLst/>
          </a:prstGeom>
        </p:spPr>
        <p:txBody>
          <a:bodyPr anchor="t" rtlCol="false" tIns="0" lIns="0" bIns="0" rIns="0">
            <a:spAutoFit/>
          </a:bodyPr>
          <a:lstStyle/>
          <a:p>
            <a:pPr algn="l">
              <a:lnSpc>
                <a:spcPts val="3749"/>
              </a:lnSpc>
            </a:pPr>
            <a:r>
              <a:rPr lang="en-US" sz="2699">
                <a:solidFill>
                  <a:srgbClr val="C6C8D1"/>
                </a:solidFill>
                <a:latin typeface="TT Interphases"/>
                <a:ea typeface="TT Interphases"/>
                <a:cs typeface="TT Interphases"/>
                <a:sym typeface="TT Interphases"/>
              </a:rPr>
              <a:t>Difficultyin breathing may</a:t>
            </a:r>
          </a:p>
        </p:txBody>
      </p:sp>
      <p:sp>
        <p:nvSpPr>
          <p:cNvPr name="TextBox 12" id="12"/>
          <p:cNvSpPr txBox="true"/>
          <p:nvPr/>
        </p:nvSpPr>
        <p:spPr>
          <a:xfrm rot="0">
            <a:off x="7291388" y="9377448"/>
            <a:ext cx="3265322" cy="472802"/>
          </a:xfrm>
          <a:prstGeom prst="rect">
            <a:avLst/>
          </a:prstGeom>
        </p:spPr>
        <p:txBody>
          <a:bodyPr anchor="t" rtlCol="false" tIns="0" lIns="0" bIns="0" rIns="0">
            <a:spAutoFit/>
          </a:bodyPr>
          <a:lstStyle/>
          <a:p>
            <a:pPr algn="l">
              <a:lnSpc>
                <a:spcPts val="3749"/>
              </a:lnSpc>
            </a:pPr>
            <a:r>
              <a:rPr lang="en-US" sz="2699">
                <a:solidFill>
                  <a:srgbClr val="C6C8D1"/>
                </a:solidFill>
                <a:latin typeface="TT Interphases"/>
                <a:ea typeface="TT Interphases"/>
                <a:cs typeface="TT Interphases"/>
                <a:sym typeface="TT Interphases"/>
              </a:rPr>
              <a:t>signal lung problems.</a:t>
            </a:r>
          </a:p>
        </p:txBody>
      </p:sp>
      <p:sp>
        <p:nvSpPr>
          <p:cNvPr name="TextBox 13" id="13"/>
          <p:cNvSpPr txBox="true"/>
          <p:nvPr/>
        </p:nvSpPr>
        <p:spPr>
          <a:xfrm rot="0">
            <a:off x="13611225" y="7586710"/>
            <a:ext cx="3606194" cy="949052"/>
          </a:xfrm>
          <a:prstGeom prst="rect">
            <a:avLst/>
          </a:prstGeom>
        </p:spPr>
        <p:txBody>
          <a:bodyPr anchor="t" rtlCol="false" tIns="0" lIns="0" bIns="0" rIns="0">
            <a:spAutoFit/>
          </a:bodyPr>
          <a:lstStyle/>
          <a:p>
            <a:pPr algn="l">
              <a:lnSpc>
                <a:spcPts val="3749"/>
              </a:lnSpc>
            </a:pPr>
            <a:r>
              <a:rPr lang="en-US" sz="2699">
                <a:solidFill>
                  <a:srgbClr val="C6C8D1"/>
                </a:solidFill>
                <a:latin typeface="TT Interphases"/>
                <a:ea typeface="TT Interphases"/>
                <a:cs typeface="TT Interphases"/>
                <a:sym typeface="TT Interphases"/>
              </a:rPr>
              <a:t>Discomfort in the chest should be evaluated.</a:t>
            </a:r>
          </a:p>
        </p:txBody>
      </p:sp>
      <p:sp>
        <p:nvSpPr>
          <p:cNvPr name="TextBox 14" id="14"/>
          <p:cNvSpPr txBox="true"/>
          <p:nvPr/>
        </p:nvSpPr>
        <p:spPr>
          <a:xfrm rot="0">
            <a:off x="7291388" y="3318929"/>
            <a:ext cx="422539" cy="538277"/>
          </a:xfrm>
          <a:prstGeom prst="rect">
            <a:avLst/>
          </a:prstGeom>
        </p:spPr>
        <p:txBody>
          <a:bodyPr anchor="t" rtlCol="false" tIns="0" lIns="0" bIns="0" rIns="0">
            <a:spAutoFit/>
          </a:bodyPr>
          <a:lstStyle/>
          <a:p>
            <a:pPr algn="l">
              <a:lnSpc>
                <a:spcPts val="4479"/>
              </a:lnSpc>
            </a:pPr>
            <a:r>
              <a:rPr lang="en-US" sz="3199">
                <a:solidFill>
                  <a:srgbClr val="E7E6E1"/>
                </a:solidFill>
                <a:latin typeface="Georgia Pro Condensed Light"/>
                <a:ea typeface="Georgia Pro Condensed Light"/>
                <a:cs typeface="Georgia Pro Condensed Light"/>
                <a:sym typeface="Georgia Pro Condensed Light"/>
              </a:rPr>
              <a:t>02</a:t>
            </a:r>
          </a:p>
        </p:txBody>
      </p:sp>
      <p:sp>
        <p:nvSpPr>
          <p:cNvPr name="TextBox 15" id="15"/>
          <p:cNvSpPr txBox="true"/>
          <p:nvPr/>
        </p:nvSpPr>
        <p:spPr>
          <a:xfrm rot="0">
            <a:off x="13611225" y="6907111"/>
            <a:ext cx="1811007" cy="577910"/>
          </a:xfrm>
          <a:prstGeom prst="rect">
            <a:avLst/>
          </a:prstGeom>
        </p:spPr>
        <p:txBody>
          <a:bodyPr anchor="t" rtlCol="false" tIns="0" lIns="0" bIns="0" rIns="0">
            <a:spAutoFit/>
          </a:bodyPr>
          <a:lstStyle/>
          <a:p>
            <a:pPr algn="l">
              <a:lnSpc>
                <a:spcPts val="4759"/>
              </a:lnSpc>
            </a:pPr>
            <a:r>
              <a:rPr lang="en-US" sz="3399">
                <a:solidFill>
                  <a:srgbClr val="E7E6E1"/>
                </a:solidFill>
                <a:latin typeface="Georgia Pro Condensed Light"/>
                <a:ea typeface="Georgia Pro Condensed Light"/>
                <a:cs typeface="Georgia Pro Condensed Light"/>
                <a:sym typeface="Georgia Pro Condensed Light"/>
              </a:rPr>
              <a:t>Chest Pain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3354A"/>
        </a:solidFill>
      </p:bgPr>
    </p:bg>
    <p:spTree>
      <p:nvGrpSpPr>
        <p:cNvPr id="1" name=""/>
        <p:cNvGrpSpPr/>
        <p:nvPr/>
      </p:nvGrpSpPr>
      <p:grpSpPr>
        <a:xfrm>
          <a:off x="0" y="0"/>
          <a:ext cx="0" cy="0"/>
          <a:chOff x="0" y="0"/>
          <a:chExt cx="0" cy="0"/>
        </a:xfrm>
      </p:grpSpPr>
      <p:sp>
        <p:nvSpPr>
          <p:cNvPr name="Freeform 2" id="2"/>
          <p:cNvSpPr/>
          <p:nvPr/>
        </p:nvSpPr>
        <p:spPr>
          <a:xfrm flipH="false" flipV="false" rot="0">
            <a:off x="666750" y="2929423"/>
            <a:ext cx="4314825" cy="3557102"/>
          </a:xfrm>
          <a:custGeom>
            <a:avLst/>
            <a:gdLst/>
            <a:ahLst/>
            <a:cxnLst/>
            <a:rect r="r" b="b" t="t" l="l"/>
            <a:pathLst>
              <a:path h="3557102" w="4314825">
                <a:moveTo>
                  <a:pt x="0" y="0"/>
                </a:moveTo>
                <a:lnTo>
                  <a:pt x="4314825" y="0"/>
                </a:lnTo>
                <a:lnTo>
                  <a:pt x="4314825" y="3557102"/>
                </a:lnTo>
                <a:lnTo>
                  <a:pt x="0" y="3557102"/>
                </a:lnTo>
                <a:lnTo>
                  <a:pt x="0" y="0"/>
                </a:lnTo>
                <a:close/>
              </a:path>
            </a:pathLst>
          </a:custGeom>
          <a:blipFill>
            <a:blip r:embed="rId2"/>
            <a:stretch>
              <a:fillRect l="-115" t="0" r="-35" b="0"/>
            </a:stretch>
          </a:blipFill>
        </p:spPr>
      </p:sp>
      <p:sp>
        <p:nvSpPr>
          <p:cNvPr name="Freeform 3" id="3"/>
          <p:cNvSpPr/>
          <p:nvPr/>
        </p:nvSpPr>
        <p:spPr>
          <a:xfrm flipH="false" flipV="false" rot="0">
            <a:off x="13611225" y="2905125"/>
            <a:ext cx="4672613" cy="3581400"/>
          </a:xfrm>
          <a:custGeom>
            <a:avLst/>
            <a:gdLst/>
            <a:ahLst/>
            <a:cxnLst/>
            <a:rect r="r" b="b" t="t" l="l"/>
            <a:pathLst>
              <a:path h="3581400" w="4672613">
                <a:moveTo>
                  <a:pt x="0" y="0"/>
                </a:moveTo>
                <a:lnTo>
                  <a:pt x="4672613" y="0"/>
                </a:lnTo>
                <a:lnTo>
                  <a:pt x="4672613" y="3581400"/>
                </a:lnTo>
                <a:lnTo>
                  <a:pt x="0" y="3581400"/>
                </a:lnTo>
                <a:lnTo>
                  <a:pt x="0" y="0"/>
                </a:lnTo>
                <a:close/>
              </a:path>
            </a:pathLst>
          </a:custGeom>
          <a:blipFill>
            <a:blip r:embed="rId3"/>
            <a:stretch>
              <a:fillRect l="-7388" t="0" r="-7581" b="0"/>
            </a:stretch>
          </a:blipFill>
        </p:spPr>
      </p:sp>
      <p:sp>
        <p:nvSpPr>
          <p:cNvPr name="Freeform 4" id="4"/>
          <p:cNvSpPr/>
          <p:nvPr/>
        </p:nvSpPr>
        <p:spPr>
          <a:xfrm flipH="false" flipV="false" rot="0">
            <a:off x="7291388" y="4248150"/>
            <a:ext cx="4010025" cy="3581400"/>
          </a:xfrm>
          <a:custGeom>
            <a:avLst/>
            <a:gdLst/>
            <a:ahLst/>
            <a:cxnLst/>
            <a:rect r="r" b="b" t="t" l="l"/>
            <a:pathLst>
              <a:path h="3581400" w="4010025">
                <a:moveTo>
                  <a:pt x="0" y="0"/>
                </a:moveTo>
                <a:lnTo>
                  <a:pt x="4010024" y="0"/>
                </a:lnTo>
                <a:lnTo>
                  <a:pt x="4010024" y="3581400"/>
                </a:lnTo>
                <a:lnTo>
                  <a:pt x="0" y="3581400"/>
                </a:lnTo>
                <a:lnTo>
                  <a:pt x="0" y="0"/>
                </a:lnTo>
                <a:close/>
              </a:path>
            </a:pathLst>
          </a:custGeom>
          <a:blipFill>
            <a:blip r:embed="rId4"/>
            <a:stretch>
              <a:fillRect l="-104" t="0" r="-21" b="0"/>
            </a:stretch>
          </a:blipFill>
        </p:spPr>
      </p:sp>
      <p:sp>
        <p:nvSpPr>
          <p:cNvPr name="TextBox 5" id="5"/>
          <p:cNvSpPr txBox="true"/>
          <p:nvPr/>
        </p:nvSpPr>
        <p:spPr>
          <a:xfrm rot="0">
            <a:off x="666750" y="1098385"/>
            <a:ext cx="15097030" cy="775278"/>
          </a:xfrm>
          <a:prstGeom prst="rect">
            <a:avLst/>
          </a:prstGeom>
        </p:spPr>
        <p:txBody>
          <a:bodyPr anchor="t" rtlCol="false" tIns="0" lIns="0" bIns="0" rIns="0">
            <a:spAutoFit/>
          </a:bodyPr>
          <a:lstStyle/>
          <a:p>
            <a:pPr algn="l">
              <a:lnSpc>
                <a:spcPts val="5121"/>
              </a:lnSpc>
            </a:pPr>
            <a:r>
              <a:rPr lang="en-US" sz="7499">
                <a:solidFill>
                  <a:srgbClr val="E7E6E1"/>
                </a:solidFill>
                <a:latin typeface="Georgia Pro Condensed Light"/>
                <a:ea typeface="Georgia Pro Condensed Light"/>
                <a:cs typeface="Georgia Pro Condensed Light"/>
                <a:sym typeface="Georgia Pro Condensed Light"/>
              </a:rPr>
              <a:t>Breast Cancer Symptom Input Overview</a:t>
            </a:r>
          </a:p>
        </p:txBody>
      </p:sp>
      <p:sp>
        <p:nvSpPr>
          <p:cNvPr name="TextBox 6" id="6"/>
          <p:cNvSpPr txBox="true"/>
          <p:nvPr/>
        </p:nvSpPr>
        <p:spPr>
          <a:xfrm rot="0">
            <a:off x="666750" y="1604401"/>
            <a:ext cx="422539" cy="871652"/>
          </a:xfrm>
          <a:prstGeom prst="rect">
            <a:avLst/>
          </a:prstGeom>
        </p:spPr>
        <p:txBody>
          <a:bodyPr anchor="t" rtlCol="false" tIns="0" lIns="0" bIns="0" rIns="0">
            <a:spAutoFit/>
          </a:bodyPr>
          <a:lstStyle/>
          <a:p>
            <a:pPr algn="l">
              <a:lnSpc>
                <a:spcPts val="7998"/>
              </a:lnSpc>
            </a:pPr>
            <a:r>
              <a:rPr lang="en-US" sz="3199">
                <a:solidFill>
                  <a:srgbClr val="E7E6E1"/>
                </a:solidFill>
                <a:latin typeface="Georgia Pro Condensed Light"/>
                <a:ea typeface="Georgia Pro Condensed Light"/>
                <a:cs typeface="Georgia Pro Condensed Light"/>
                <a:sym typeface="Georgia Pro Condensed Light"/>
              </a:rPr>
              <a:t>01</a:t>
            </a:r>
          </a:p>
        </p:txBody>
      </p:sp>
      <p:sp>
        <p:nvSpPr>
          <p:cNvPr name="TextBox 7" id="7"/>
          <p:cNvSpPr txBox="true"/>
          <p:nvPr/>
        </p:nvSpPr>
        <p:spPr>
          <a:xfrm rot="0">
            <a:off x="13611225" y="1604401"/>
            <a:ext cx="422539" cy="871652"/>
          </a:xfrm>
          <a:prstGeom prst="rect">
            <a:avLst/>
          </a:prstGeom>
        </p:spPr>
        <p:txBody>
          <a:bodyPr anchor="t" rtlCol="false" tIns="0" lIns="0" bIns="0" rIns="0">
            <a:spAutoFit/>
          </a:bodyPr>
          <a:lstStyle/>
          <a:p>
            <a:pPr algn="l">
              <a:lnSpc>
                <a:spcPts val="7998"/>
              </a:lnSpc>
            </a:pPr>
            <a:r>
              <a:rPr lang="en-US" sz="3199">
                <a:solidFill>
                  <a:srgbClr val="E7E6E1"/>
                </a:solidFill>
                <a:latin typeface="Georgia Pro Condensed Light"/>
                <a:ea typeface="Georgia Pro Condensed Light"/>
                <a:cs typeface="Georgia Pro Condensed Light"/>
                <a:sym typeface="Georgia Pro Condensed Light"/>
              </a:rPr>
              <a:t>03</a:t>
            </a:r>
          </a:p>
        </p:txBody>
      </p:sp>
      <p:sp>
        <p:nvSpPr>
          <p:cNvPr name="TextBox 8" id="8"/>
          <p:cNvSpPr txBox="true"/>
          <p:nvPr/>
        </p:nvSpPr>
        <p:spPr>
          <a:xfrm rot="0">
            <a:off x="666750" y="6448577"/>
            <a:ext cx="3305585" cy="1669513"/>
          </a:xfrm>
          <a:prstGeom prst="rect">
            <a:avLst/>
          </a:prstGeom>
        </p:spPr>
        <p:txBody>
          <a:bodyPr anchor="t" rtlCol="false" tIns="0" lIns="0" bIns="0" rIns="0">
            <a:spAutoFit/>
          </a:bodyPr>
          <a:lstStyle/>
          <a:p>
            <a:pPr algn="l">
              <a:lnSpc>
                <a:spcPts val="4899"/>
              </a:lnSpc>
            </a:pPr>
            <a:r>
              <a:rPr lang="en-US" sz="3499">
                <a:solidFill>
                  <a:srgbClr val="E7E6E1"/>
                </a:solidFill>
                <a:latin typeface="Georgia Pro Condensed Light"/>
                <a:ea typeface="Georgia Pro Condensed Light"/>
                <a:cs typeface="Georgia Pro Condensed Light"/>
                <a:sym typeface="Georgia Pro Condensed Light"/>
              </a:rPr>
              <a:t>Lump</a:t>
            </a:r>
          </a:p>
          <a:p>
            <a:pPr algn="l">
              <a:lnSpc>
                <a:spcPts val="3749"/>
              </a:lnSpc>
            </a:pPr>
            <a:r>
              <a:rPr lang="en-US" sz="2699">
                <a:solidFill>
                  <a:srgbClr val="C6C8D1"/>
                </a:solidFill>
                <a:latin typeface="TT Interphases"/>
                <a:ea typeface="TT Interphases"/>
                <a:cs typeface="TT Interphases"/>
                <a:sym typeface="TT Interphases"/>
              </a:rPr>
              <a:t>Indication of any </a:t>
            </a:r>
            <a:r>
              <a:rPr lang="en-US" b="true" sz="2699">
                <a:solidFill>
                  <a:srgbClr val="C6C8D1"/>
                </a:solidFill>
                <a:latin typeface="TT Interphases Bold"/>
                <a:ea typeface="TT Interphases Bold"/>
                <a:cs typeface="TT Interphases Bold"/>
                <a:sym typeface="TT Interphases Bold"/>
              </a:rPr>
              <a:t>new growth</a:t>
            </a:r>
            <a:r>
              <a:rPr lang="en-US" sz="2699">
                <a:solidFill>
                  <a:srgbClr val="C6C8D1"/>
                </a:solidFill>
                <a:latin typeface="TT Interphases"/>
                <a:ea typeface="TT Interphases"/>
                <a:cs typeface="TT Interphases"/>
                <a:sym typeface="TT Interphases"/>
              </a:rPr>
              <a:t> in the breast.</a:t>
            </a:r>
          </a:p>
        </p:txBody>
      </p:sp>
      <p:sp>
        <p:nvSpPr>
          <p:cNvPr name="TextBox 9" id="9"/>
          <p:cNvSpPr txBox="true"/>
          <p:nvPr/>
        </p:nvSpPr>
        <p:spPr>
          <a:xfrm rot="0">
            <a:off x="7291388" y="7924590"/>
            <a:ext cx="3835327" cy="2142334"/>
          </a:xfrm>
          <a:prstGeom prst="rect">
            <a:avLst/>
          </a:prstGeom>
        </p:spPr>
        <p:txBody>
          <a:bodyPr anchor="t" rtlCol="false" tIns="0" lIns="0" bIns="0" rIns="0">
            <a:spAutoFit/>
          </a:bodyPr>
          <a:lstStyle/>
          <a:p>
            <a:pPr algn="l">
              <a:lnSpc>
                <a:spcPts val="4899"/>
              </a:lnSpc>
            </a:pPr>
            <a:r>
              <a:rPr lang="en-US" sz="3499">
                <a:solidFill>
                  <a:srgbClr val="E7E6E1"/>
                </a:solidFill>
                <a:latin typeface="Georgia Pro Condensed Light"/>
                <a:ea typeface="Georgia Pro Condensed Light"/>
                <a:cs typeface="Georgia Pro Condensed Light"/>
                <a:sym typeface="Georgia Pro Condensed Light"/>
              </a:rPr>
              <a:t>Pain</a:t>
            </a:r>
          </a:p>
          <a:p>
            <a:pPr algn="l">
              <a:lnSpc>
                <a:spcPts val="3749"/>
              </a:lnSpc>
            </a:pPr>
            <a:r>
              <a:rPr lang="en-US" sz="2699">
                <a:solidFill>
                  <a:srgbClr val="C6C8D1"/>
                </a:solidFill>
                <a:latin typeface="TT Interphases"/>
                <a:ea typeface="TT Interphases"/>
                <a:cs typeface="TT Interphases"/>
                <a:sym typeface="TT Interphases"/>
              </a:rPr>
              <a:t>Assessment of any </a:t>
            </a:r>
            <a:r>
              <a:rPr lang="en-US" b="true" sz="2699">
                <a:solidFill>
                  <a:srgbClr val="C6C8D1"/>
                </a:solidFill>
                <a:latin typeface="TT Interphases Bold"/>
                <a:ea typeface="TT Interphases Bold"/>
                <a:cs typeface="TT Interphases Bold"/>
                <a:sym typeface="TT Interphases Bold"/>
              </a:rPr>
              <a:t>discomfort</a:t>
            </a:r>
            <a:r>
              <a:rPr lang="en-US" sz="2699">
                <a:solidFill>
                  <a:srgbClr val="C6C8D1"/>
                </a:solidFill>
                <a:latin typeface="TT Interphases"/>
                <a:ea typeface="TT Interphases"/>
                <a:cs typeface="TT Interphases"/>
                <a:sym typeface="TT Interphases"/>
              </a:rPr>
              <a:t> experienced by the user.</a:t>
            </a:r>
          </a:p>
        </p:txBody>
      </p:sp>
      <p:sp>
        <p:nvSpPr>
          <p:cNvPr name="TextBox 10" id="10"/>
          <p:cNvSpPr txBox="true"/>
          <p:nvPr/>
        </p:nvSpPr>
        <p:spPr>
          <a:xfrm rot="0">
            <a:off x="13611225" y="6448577"/>
            <a:ext cx="3873665" cy="1669513"/>
          </a:xfrm>
          <a:prstGeom prst="rect">
            <a:avLst/>
          </a:prstGeom>
        </p:spPr>
        <p:txBody>
          <a:bodyPr anchor="t" rtlCol="false" tIns="0" lIns="0" bIns="0" rIns="0">
            <a:spAutoFit/>
          </a:bodyPr>
          <a:lstStyle/>
          <a:p>
            <a:pPr algn="l">
              <a:lnSpc>
                <a:spcPts val="4899"/>
              </a:lnSpc>
            </a:pPr>
            <a:r>
              <a:rPr lang="en-US" sz="3499">
                <a:solidFill>
                  <a:srgbClr val="E7E6E1"/>
                </a:solidFill>
                <a:latin typeface="Georgia Pro Condensed Light"/>
                <a:ea typeface="Georgia Pro Condensed Light"/>
                <a:cs typeface="Georgia Pro Condensed Light"/>
                <a:sym typeface="Georgia Pro Condensed Light"/>
              </a:rPr>
              <a:t>Changes</a:t>
            </a:r>
          </a:p>
          <a:p>
            <a:pPr algn="l">
              <a:lnSpc>
                <a:spcPts val="3749"/>
              </a:lnSpc>
            </a:pPr>
            <a:r>
              <a:rPr lang="en-US" sz="2699">
                <a:solidFill>
                  <a:srgbClr val="C6C8D1"/>
                </a:solidFill>
                <a:latin typeface="TT Interphases"/>
                <a:ea typeface="TT Interphases"/>
                <a:cs typeface="TT Interphases"/>
                <a:sym typeface="TT Interphases"/>
              </a:rPr>
              <a:t>Evaluation of any </a:t>
            </a:r>
            <a:r>
              <a:rPr lang="en-US" b="true" sz="2699">
                <a:solidFill>
                  <a:srgbClr val="C6C8D1"/>
                </a:solidFill>
                <a:latin typeface="TT Interphases Bold"/>
                <a:ea typeface="TT Interphases Bold"/>
                <a:cs typeface="TT Interphases Bold"/>
                <a:sym typeface="TT Interphases Bold"/>
              </a:rPr>
              <a:t>visible alterations</a:t>
            </a:r>
            <a:r>
              <a:rPr lang="en-US" sz="2699">
                <a:solidFill>
                  <a:srgbClr val="C6C8D1"/>
                </a:solidFill>
                <a:latin typeface="TT Interphases"/>
                <a:ea typeface="TT Interphases"/>
                <a:cs typeface="TT Interphases"/>
                <a:sym typeface="TT Interphases"/>
              </a:rPr>
              <a:t> in the breast.</a:t>
            </a:r>
          </a:p>
        </p:txBody>
      </p:sp>
      <p:sp>
        <p:nvSpPr>
          <p:cNvPr name="TextBox 11" id="11"/>
          <p:cNvSpPr txBox="true"/>
          <p:nvPr/>
        </p:nvSpPr>
        <p:spPr>
          <a:xfrm rot="0">
            <a:off x="7291388" y="3318929"/>
            <a:ext cx="422539" cy="538277"/>
          </a:xfrm>
          <a:prstGeom prst="rect">
            <a:avLst/>
          </a:prstGeom>
        </p:spPr>
        <p:txBody>
          <a:bodyPr anchor="t" rtlCol="false" tIns="0" lIns="0" bIns="0" rIns="0">
            <a:spAutoFit/>
          </a:bodyPr>
          <a:lstStyle/>
          <a:p>
            <a:pPr algn="l">
              <a:lnSpc>
                <a:spcPts val="4479"/>
              </a:lnSpc>
            </a:pPr>
            <a:r>
              <a:rPr lang="en-US" sz="3199">
                <a:solidFill>
                  <a:srgbClr val="E7E6E1"/>
                </a:solidFill>
                <a:latin typeface="Georgia Pro Condensed Light"/>
                <a:ea typeface="Georgia Pro Condensed Light"/>
                <a:cs typeface="Georgia Pro Condensed Light"/>
                <a:sym typeface="Georgia Pro Condensed Light"/>
              </a:rPr>
              <a:t>02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Freeform 2" id="2"/>
          <p:cNvSpPr/>
          <p:nvPr/>
        </p:nvSpPr>
        <p:spPr>
          <a:xfrm flipH="false" flipV="false" rot="0">
            <a:off x="9561927" y="4149525"/>
            <a:ext cx="8726073" cy="3203333"/>
          </a:xfrm>
          <a:custGeom>
            <a:avLst/>
            <a:gdLst/>
            <a:ahLst/>
            <a:cxnLst/>
            <a:rect r="r" b="b" t="t" l="l"/>
            <a:pathLst>
              <a:path h="3203333" w="8726073">
                <a:moveTo>
                  <a:pt x="0" y="0"/>
                </a:moveTo>
                <a:lnTo>
                  <a:pt x="8726073" y="0"/>
                </a:lnTo>
                <a:lnTo>
                  <a:pt x="8726073" y="3203333"/>
                </a:lnTo>
                <a:lnTo>
                  <a:pt x="0" y="3203333"/>
                </a:lnTo>
                <a:lnTo>
                  <a:pt x="0" y="0"/>
                </a:lnTo>
                <a:close/>
              </a:path>
            </a:pathLst>
          </a:custGeom>
          <a:blipFill>
            <a:blip r:embed="rId2"/>
            <a:stretch>
              <a:fillRect l="0" t="0" r="-55385" b="0"/>
            </a:stretch>
          </a:blipFill>
        </p:spPr>
      </p:sp>
      <p:sp>
        <p:nvSpPr>
          <p:cNvPr name="Freeform 3" id="3"/>
          <p:cNvSpPr/>
          <p:nvPr/>
        </p:nvSpPr>
        <p:spPr>
          <a:xfrm flipH="false" flipV="false" rot="0">
            <a:off x="9561927" y="7352858"/>
            <a:ext cx="8726073" cy="2934142"/>
          </a:xfrm>
          <a:custGeom>
            <a:avLst/>
            <a:gdLst/>
            <a:ahLst/>
            <a:cxnLst/>
            <a:rect r="r" b="b" t="t" l="l"/>
            <a:pathLst>
              <a:path h="2934142" w="8726073">
                <a:moveTo>
                  <a:pt x="0" y="0"/>
                </a:moveTo>
                <a:lnTo>
                  <a:pt x="8726073" y="0"/>
                </a:lnTo>
                <a:lnTo>
                  <a:pt x="8726073" y="2934142"/>
                </a:lnTo>
                <a:lnTo>
                  <a:pt x="0" y="2934142"/>
                </a:lnTo>
                <a:lnTo>
                  <a:pt x="0" y="0"/>
                </a:lnTo>
                <a:close/>
              </a:path>
            </a:pathLst>
          </a:custGeom>
          <a:blipFill>
            <a:blip r:embed="rId3"/>
            <a:stretch>
              <a:fillRect l="0" t="0" r="0" b="0"/>
            </a:stretch>
          </a:blipFill>
        </p:spPr>
      </p:sp>
      <p:sp>
        <p:nvSpPr>
          <p:cNvPr name="Freeform 4" id="4"/>
          <p:cNvSpPr/>
          <p:nvPr/>
        </p:nvSpPr>
        <p:spPr>
          <a:xfrm flipH="false" flipV="false" rot="0">
            <a:off x="9561927" y="1215383"/>
            <a:ext cx="8726073" cy="2934142"/>
          </a:xfrm>
          <a:custGeom>
            <a:avLst/>
            <a:gdLst/>
            <a:ahLst/>
            <a:cxnLst/>
            <a:rect r="r" b="b" t="t" l="l"/>
            <a:pathLst>
              <a:path h="2934142" w="8726073">
                <a:moveTo>
                  <a:pt x="0" y="0"/>
                </a:moveTo>
                <a:lnTo>
                  <a:pt x="8726073" y="0"/>
                </a:lnTo>
                <a:lnTo>
                  <a:pt x="8726073" y="2934142"/>
                </a:lnTo>
                <a:lnTo>
                  <a:pt x="0" y="2934142"/>
                </a:lnTo>
                <a:lnTo>
                  <a:pt x="0" y="0"/>
                </a:lnTo>
                <a:close/>
              </a:path>
            </a:pathLst>
          </a:custGeom>
          <a:blipFill>
            <a:blip r:embed="rId4"/>
            <a:stretch>
              <a:fillRect l="0" t="0" r="0" b="0"/>
            </a:stretch>
          </a:blipFill>
        </p:spPr>
      </p:sp>
      <p:sp>
        <p:nvSpPr>
          <p:cNvPr name="TextBox 5" id="5"/>
          <p:cNvSpPr txBox="true"/>
          <p:nvPr/>
        </p:nvSpPr>
        <p:spPr>
          <a:xfrm rot="0">
            <a:off x="1370905" y="3931463"/>
            <a:ext cx="4852064" cy="1212037"/>
          </a:xfrm>
          <a:prstGeom prst="rect">
            <a:avLst/>
          </a:prstGeom>
        </p:spPr>
        <p:txBody>
          <a:bodyPr anchor="t" rtlCol="false" tIns="0" lIns="0" bIns="0" rIns="0">
            <a:spAutoFit/>
          </a:bodyPr>
          <a:lstStyle/>
          <a:p>
            <a:pPr algn="l">
              <a:lnSpc>
                <a:spcPts val="4874"/>
              </a:lnSpc>
            </a:pPr>
            <a:r>
              <a:rPr lang="en-US" sz="3499">
                <a:solidFill>
                  <a:srgbClr val="C6C8D1"/>
                </a:solidFill>
                <a:latin typeface="Georgia Pro Condensed Light"/>
                <a:ea typeface="Georgia Pro Condensed Light"/>
                <a:cs typeface="Georgia Pro Condensed Light"/>
                <a:sym typeface="Georgia Pro Condensed Light"/>
              </a:rPr>
              <a:t>Understanding Your Cancer Risk Percentage</a:t>
            </a:r>
          </a:p>
        </p:txBody>
      </p:sp>
      <p:sp>
        <p:nvSpPr>
          <p:cNvPr name="TextBox 6" id="6"/>
          <p:cNvSpPr txBox="true"/>
          <p:nvPr/>
        </p:nvSpPr>
        <p:spPr>
          <a:xfrm rot="0">
            <a:off x="1293981" y="7554325"/>
            <a:ext cx="76924" cy="749027"/>
          </a:xfrm>
          <a:prstGeom prst="rect">
            <a:avLst/>
          </a:prstGeom>
        </p:spPr>
        <p:txBody>
          <a:bodyPr anchor="t" rtlCol="false" tIns="0" lIns="0" bIns="0" rIns="0">
            <a:spAutoFit/>
          </a:bodyPr>
          <a:lstStyle/>
          <a:p>
            <a:pPr algn="l">
              <a:lnSpc>
                <a:spcPts val="6621"/>
              </a:lnSpc>
            </a:pPr>
            <a:r>
              <a:rPr lang="en-US" sz="2699">
                <a:solidFill>
                  <a:srgbClr val="C6C8D1"/>
                </a:solidFill>
                <a:latin typeface="TT Interphases"/>
                <a:ea typeface="TT Interphases"/>
                <a:cs typeface="TT Interphases"/>
                <a:sym typeface="TT Interphases"/>
              </a:rPr>
              <a:t> </a:t>
            </a:r>
          </a:p>
        </p:txBody>
      </p:sp>
      <p:sp>
        <p:nvSpPr>
          <p:cNvPr name="TextBox 7" id="7"/>
          <p:cNvSpPr txBox="true"/>
          <p:nvPr/>
        </p:nvSpPr>
        <p:spPr>
          <a:xfrm rot="0">
            <a:off x="1370905" y="5302816"/>
            <a:ext cx="5202155" cy="2792710"/>
          </a:xfrm>
          <a:prstGeom prst="rect">
            <a:avLst/>
          </a:prstGeom>
        </p:spPr>
        <p:txBody>
          <a:bodyPr anchor="t" rtlCol="false" tIns="0" lIns="0" bIns="0" rIns="0">
            <a:spAutoFit/>
          </a:bodyPr>
          <a:lstStyle/>
          <a:p>
            <a:pPr algn="l">
              <a:lnSpc>
                <a:spcPts val="3749"/>
              </a:lnSpc>
            </a:pPr>
            <a:r>
              <a:rPr lang="en-US" sz="2699">
                <a:solidFill>
                  <a:srgbClr val="C6C8D1"/>
                </a:solidFill>
                <a:latin typeface="TT Interphases"/>
                <a:ea typeface="TT Interphases"/>
                <a:cs typeface="TT Interphases"/>
                <a:sym typeface="TT Interphases"/>
              </a:rPr>
              <a:t>This sectio</a:t>
            </a:r>
            <a:r>
              <a:rPr lang="en-US" sz="2699">
                <a:solidFill>
                  <a:srgbClr val="C6C8D1"/>
                </a:solidFill>
                <a:latin typeface="TT Interphases"/>
                <a:ea typeface="TT Interphases"/>
                <a:cs typeface="TT Interphases"/>
                <a:sym typeface="TT Interphases"/>
              </a:rPr>
              <a:t>n evaluates the likelihood of cancer based on the symptoms entered by the user. The system analyzes the data using predictive algorithms and categorizes the risk level</a:t>
            </a:r>
          </a:p>
        </p:txBody>
      </p:sp>
      <p:sp>
        <p:nvSpPr>
          <p:cNvPr name="TextBox 8" id="8"/>
          <p:cNvSpPr txBox="true"/>
          <p:nvPr/>
        </p:nvSpPr>
        <p:spPr>
          <a:xfrm rot="0">
            <a:off x="666750" y="593560"/>
            <a:ext cx="6266669" cy="1280103"/>
          </a:xfrm>
          <a:prstGeom prst="rect">
            <a:avLst/>
          </a:prstGeom>
        </p:spPr>
        <p:txBody>
          <a:bodyPr anchor="t" rtlCol="false" tIns="0" lIns="0" bIns="0" rIns="0">
            <a:spAutoFit/>
          </a:bodyPr>
          <a:lstStyle/>
          <a:p>
            <a:pPr algn="l">
              <a:lnSpc>
                <a:spcPts val="10498"/>
              </a:lnSpc>
            </a:pPr>
            <a:r>
              <a:rPr lang="en-US" sz="7499">
                <a:solidFill>
                  <a:srgbClr val="E7E6E1"/>
                </a:solidFill>
                <a:latin typeface="Georgia Pro Condensed Light"/>
                <a:ea typeface="Georgia Pro Condensed Light"/>
                <a:cs typeface="Georgia Pro Condensed Light"/>
                <a:sym typeface="Georgia Pro Condensed Light"/>
              </a:rPr>
              <a:t>Risk Assessment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F3460"/>
        </a:solidFill>
      </p:bgPr>
    </p:bg>
    <p:spTree>
      <p:nvGrpSpPr>
        <p:cNvPr id="1" name=""/>
        <p:cNvGrpSpPr/>
        <p:nvPr/>
      </p:nvGrpSpPr>
      <p:grpSpPr>
        <a:xfrm>
          <a:off x="0" y="0"/>
          <a:ext cx="0" cy="0"/>
          <a:chOff x="0" y="0"/>
          <a:chExt cx="0" cy="0"/>
        </a:xfrm>
      </p:grpSpPr>
      <p:sp>
        <p:nvSpPr>
          <p:cNvPr name="Freeform 2" id="2"/>
          <p:cNvSpPr/>
          <p:nvPr/>
        </p:nvSpPr>
        <p:spPr>
          <a:xfrm flipH="false" flipV="false" rot="0">
            <a:off x="0" y="770525"/>
            <a:ext cx="8451542" cy="8742607"/>
          </a:xfrm>
          <a:custGeom>
            <a:avLst/>
            <a:gdLst/>
            <a:ahLst/>
            <a:cxnLst/>
            <a:rect r="r" b="b" t="t" l="l"/>
            <a:pathLst>
              <a:path h="8742607" w="8451542">
                <a:moveTo>
                  <a:pt x="0" y="0"/>
                </a:moveTo>
                <a:lnTo>
                  <a:pt x="8451542" y="0"/>
                </a:lnTo>
                <a:lnTo>
                  <a:pt x="8451542" y="8742607"/>
                </a:lnTo>
                <a:lnTo>
                  <a:pt x="0" y="8742607"/>
                </a:lnTo>
                <a:lnTo>
                  <a:pt x="0" y="0"/>
                </a:lnTo>
                <a:close/>
              </a:path>
            </a:pathLst>
          </a:custGeom>
          <a:blipFill>
            <a:blip r:embed="rId2"/>
            <a:stretch>
              <a:fillRect l="0" t="-69" r="0" b="0"/>
            </a:stretch>
          </a:blipFill>
        </p:spPr>
      </p:sp>
      <p:sp>
        <p:nvSpPr>
          <p:cNvPr name="TextBox 3" id="3"/>
          <p:cNvSpPr txBox="true"/>
          <p:nvPr/>
        </p:nvSpPr>
        <p:spPr>
          <a:xfrm rot="0">
            <a:off x="9903504" y="1597438"/>
            <a:ext cx="6905111" cy="2084251"/>
          </a:xfrm>
          <a:prstGeom prst="rect">
            <a:avLst/>
          </a:prstGeom>
        </p:spPr>
        <p:txBody>
          <a:bodyPr anchor="t" rtlCol="false" tIns="0" lIns="0" bIns="0" rIns="0">
            <a:spAutoFit/>
          </a:bodyPr>
          <a:lstStyle/>
          <a:p>
            <a:pPr algn="l">
              <a:lnSpc>
                <a:spcPts val="8102"/>
              </a:lnSpc>
            </a:pPr>
            <a:r>
              <a:rPr lang="en-US" sz="7399">
                <a:solidFill>
                  <a:srgbClr val="E7E6E1"/>
                </a:solidFill>
                <a:latin typeface="Georgia Pro Condensed Light"/>
                <a:ea typeface="Georgia Pro Condensed Light"/>
                <a:cs typeface="Georgia Pro Condensed Light"/>
                <a:sym typeface="Georgia Pro Condensed Light"/>
              </a:rPr>
              <a:t>Tailored Recommendations</a:t>
            </a:r>
          </a:p>
        </p:txBody>
      </p:sp>
      <p:sp>
        <p:nvSpPr>
          <p:cNvPr name="TextBox 4" id="4"/>
          <p:cNvSpPr txBox="true"/>
          <p:nvPr/>
        </p:nvSpPr>
        <p:spPr>
          <a:xfrm rot="0">
            <a:off x="10053657" y="5075920"/>
            <a:ext cx="6930952" cy="3330302"/>
          </a:xfrm>
          <a:prstGeom prst="rect">
            <a:avLst/>
          </a:prstGeom>
        </p:spPr>
        <p:txBody>
          <a:bodyPr anchor="t" rtlCol="false" tIns="0" lIns="0" bIns="0" rIns="0">
            <a:spAutoFit/>
          </a:bodyPr>
          <a:lstStyle/>
          <a:p>
            <a:pPr algn="l">
              <a:lnSpc>
                <a:spcPts val="3749"/>
              </a:lnSpc>
            </a:pPr>
            <a:r>
              <a:rPr lang="en-US" sz="2699">
                <a:solidFill>
                  <a:srgbClr val="C6C8D1"/>
                </a:solidFill>
                <a:latin typeface="TT Interphases"/>
                <a:ea typeface="TT Interphases"/>
                <a:cs typeface="TT Interphases"/>
                <a:sym typeface="TT Interphases"/>
              </a:rPr>
              <a:t>This section outlines personalized recommendations based on the user's risk assessment results. It emphasizes actionable steps individuals can take, such as lifestyle modifications, screenings, and consultations, to mitigate their cancer risk effectively while promoting proactive health management.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3354A"/>
        </a:solidFill>
      </p:bgPr>
    </p:bg>
    <p:spTree>
      <p:nvGrpSpPr>
        <p:cNvPr id="1" name=""/>
        <p:cNvGrpSpPr/>
        <p:nvPr/>
      </p:nvGrpSpPr>
      <p:grpSpPr>
        <a:xfrm>
          <a:off x="0" y="0"/>
          <a:ext cx="0" cy="0"/>
          <a:chOff x="0" y="0"/>
          <a:chExt cx="0" cy="0"/>
        </a:xfrm>
      </p:grpSpPr>
      <p:sp>
        <p:nvSpPr>
          <p:cNvPr name="Freeform 2" id="2"/>
          <p:cNvSpPr/>
          <p:nvPr/>
        </p:nvSpPr>
        <p:spPr>
          <a:xfrm flipH="false" flipV="false" rot="0">
            <a:off x="8472926" y="333375"/>
            <a:ext cx="9296400" cy="9616564"/>
          </a:xfrm>
          <a:custGeom>
            <a:avLst/>
            <a:gdLst/>
            <a:ahLst/>
            <a:cxnLst/>
            <a:rect r="r" b="b" t="t" l="l"/>
            <a:pathLst>
              <a:path h="9616564" w="9296400">
                <a:moveTo>
                  <a:pt x="0" y="0"/>
                </a:moveTo>
                <a:lnTo>
                  <a:pt x="9296400" y="0"/>
                </a:lnTo>
                <a:lnTo>
                  <a:pt x="9296400" y="9616564"/>
                </a:lnTo>
                <a:lnTo>
                  <a:pt x="0" y="9616564"/>
                </a:lnTo>
                <a:lnTo>
                  <a:pt x="0" y="0"/>
                </a:lnTo>
                <a:close/>
              </a:path>
            </a:pathLst>
          </a:custGeom>
          <a:blipFill>
            <a:blip r:embed="rId2"/>
            <a:stretch>
              <a:fillRect l="0" t="-69" r="0" b="0"/>
            </a:stretch>
          </a:blipFill>
        </p:spPr>
      </p:sp>
      <p:sp>
        <p:nvSpPr>
          <p:cNvPr name="TextBox 3" id="3"/>
          <p:cNvSpPr txBox="true"/>
          <p:nvPr/>
        </p:nvSpPr>
        <p:spPr>
          <a:xfrm rot="0">
            <a:off x="666750" y="812635"/>
            <a:ext cx="4930054" cy="2099253"/>
          </a:xfrm>
          <a:prstGeom prst="rect">
            <a:avLst/>
          </a:prstGeom>
        </p:spPr>
        <p:txBody>
          <a:bodyPr anchor="t" rtlCol="false" tIns="0" lIns="0" bIns="0" rIns="0">
            <a:spAutoFit/>
          </a:bodyPr>
          <a:lstStyle/>
          <a:p>
            <a:pPr algn="l">
              <a:lnSpc>
                <a:spcPts val="8174"/>
              </a:lnSpc>
            </a:pPr>
            <a:r>
              <a:rPr lang="en-US" sz="7499">
                <a:solidFill>
                  <a:srgbClr val="E7E6E1"/>
                </a:solidFill>
                <a:latin typeface="Georgia Pro Condensed Light"/>
                <a:ea typeface="Georgia Pro Condensed Light"/>
                <a:cs typeface="Georgia Pro Condensed Light"/>
                <a:sym typeface="Georgia Pro Condensed Light"/>
              </a:rPr>
              <a:t>Database Management</a:t>
            </a:r>
          </a:p>
        </p:txBody>
      </p:sp>
      <p:sp>
        <p:nvSpPr>
          <p:cNvPr name="TextBox 4" id="4"/>
          <p:cNvSpPr txBox="true"/>
          <p:nvPr/>
        </p:nvSpPr>
        <p:spPr>
          <a:xfrm rot="0">
            <a:off x="666750" y="5392150"/>
            <a:ext cx="6840055" cy="3330302"/>
          </a:xfrm>
          <a:prstGeom prst="rect">
            <a:avLst/>
          </a:prstGeom>
        </p:spPr>
        <p:txBody>
          <a:bodyPr anchor="t" rtlCol="false" tIns="0" lIns="0" bIns="0" rIns="0">
            <a:spAutoFit/>
          </a:bodyPr>
          <a:lstStyle/>
          <a:p>
            <a:pPr algn="just">
              <a:lnSpc>
                <a:spcPts val="3749"/>
              </a:lnSpc>
            </a:pPr>
            <a:r>
              <a:rPr lang="en-US" sz="2699">
                <a:solidFill>
                  <a:srgbClr val="C6C8D1"/>
                </a:solidFill>
                <a:latin typeface="TT Interphases"/>
                <a:ea typeface="TT Interphases"/>
                <a:cs typeface="TT Interphases"/>
                <a:sym typeface="TT Interphases"/>
              </a:rPr>
              <a:t>This section delves into the organization and storage of prediction results within the Cancer Risk Predictor system. It outlines the database schema, emphasizing user details, symptom inputs, and the critical role of date tracking for longitudinal analysis and analytics.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sp>
        <p:nvSpPr>
          <p:cNvPr name="Freeform 2" id="2"/>
          <p:cNvSpPr/>
          <p:nvPr/>
        </p:nvSpPr>
        <p:spPr>
          <a:xfrm flipH="false" flipV="false" rot="0">
            <a:off x="4116010" y="475355"/>
            <a:ext cx="9674619" cy="9811645"/>
          </a:xfrm>
          <a:custGeom>
            <a:avLst/>
            <a:gdLst/>
            <a:ahLst/>
            <a:cxnLst/>
            <a:rect r="r" b="b" t="t" l="l"/>
            <a:pathLst>
              <a:path h="9811645" w="9674619">
                <a:moveTo>
                  <a:pt x="0" y="0"/>
                </a:moveTo>
                <a:lnTo>
                  <a:pt x="9674618" y="0"/>
                </a:lnTo>
                <a:lnTo>
                  <a:pt x="9674618" y="9811645"/>
                </a:lnTo>
                <a:lnTo>
                  <a:pt x="0" y="9811645"/>
                </a:lnTo>
                <a:lnTo>
                  <a:pt x="0" y="0"/>
                </a:lnTo>
                <a:close/>
              </a:path>
            </a:pathLst>
          </a:custGeom>
          <a:blipFill>
            <a:blip r:embed="rId2"/>
            <a:stretch>
              <a:fillRect l="-4215" t="0" r="-4378" b="-7077"/>
            </a:stretch>
          </a:blipFill>
        </p:spPr>
      </p:sp>
      <p:sp>
        <p:nvSpPr>
          <p:cNvPr name="TextBox 3" id="3"/>
          <p:cNvSpPr txBox="true"/>
          <p:nvPr/>
        </p:nvSpPr>
        <p:spPr>
          <a:xfrm rot="0">
            <a:off x="311934" y="4481398"/>
            <a:ext cx="3870627" cy="1307106"/>
          </a:xfrm>
          <a:prstGeom prst="rect">
            <a:avLst/>
          </a:prstGeom>
        </p:spPr>
        <p:txBody>
          <a:bodyPr anchor="t" rtlCol="false" tIns="0" lIns="0" bIns="0" rIns="0">
            <a:spAutoFit/>
          </a:bodyPr>
          <a:lstStyle/>
          <a:p>
            <a:pPr algn="l">
              <a:lnSpc>
                <a:spcPts val="10661"/>
              </a:lnSpc>
            </a:pPr>
            <a:r>
              <a:rPr lang="en-US" sz="7615">
                <a:solidFill>
                  <a:srgbClr val="E7E6E1"/>
                </a:solidFill>
                <a:latin typeface="Georgia Pro Condensed Light"/>
                <a:ea typeface="Georgia Pro Condensed Light"/>
                <a:cs typeface="Georgia Pro Condensed Light"/>
                <a:sym typeface="Georgia Pro Condensed Light"/>
              </a:rPr>
              <a:t>SCHEMA</a:t>
            </a:r>
          </a:p>
        </p:txBody>
      </p:sp>
      <p:sp>
        <p:nvSpPr>
          <p:cNvPr name="TextBox 4" id="4"/>
          <p:cNvSpPr txBox="true"/>
          <p:nvPr/>
        </p:nvSpPr>
        <p:spPr>
          <a:xfrm rot="0">
            <a:off x="13796286" y="4505887"/>
            <a:ext cx="4410218" cy="1319736"/>
          </a:xfrm>
          <a:prstGeom prst="rect">
            <a:avLst/>
          </a:prstGeom>
        </p:spPr>
        <p:txBody>
          <a:bodyPr anchor="t" rtlCol="false" tIns="0" lIns="0" bIns="0" rIns="0">
            <a:spAutoFit/>
          </a:bodyPr>
          <a:lstStyle/>
          <a:p>
            <a:pPr algn="l">
              <a:lnSpc>
                <a:spcPts val="10779"/>
              </a:lnSpc>
            </a:pPr>
            <a:r>
              <a:rPr lang="en-US" sz="7699">
                <a:solidFill>
                  <a:srgbClr val="FFFEFF"/>
                </a:solidFill>
                <a:latin typeface="Georgia Pro Condensed Light"/>
                <a:ea typeface="Georgia Pro Condensed Light"/>
                <a:cs typeface="Georgia Pro Condensed Light"/>
                <a:sym typeface="Georgia Pro Condensed Light"/>
              </a:rPr>
              <a:t>DIAGRAM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6213E"/>
        </a:solidFill>
      </p:bgPr>
    </p:bg>
    <p:spTree>
      <p:nvGrpSpPr>
        <p:cNvPr id="1" name=""/>
        <p:cNvGrpSpPr/>
        <p:nvPr/>
      </p:nvGrpSpPr>
      <p:grpSpPr>
        <a:xfrm>
          <a:off x="0" y="0"/>
          <a:ext cx="0" cy="0"/>
          <a:chOff x="0" y="0"/>
          <a:chExt cx="0" cy="0"/>
        </a:xfrm>
      </p:grpSpPr>
      <p:sp>
        <p:nvSpPr>
          <p:cNvPr name="Freeform 2" id="2"/>
          <p:cNvSpPr/>
          <p:nvPr/>
        </p:nvSpPr>
        <p:spPr>
          <a:xfrm flipH="false" flipV="false" rot="0">
            <a:off x="539163" y="1028700"/>
            <a:ext cx="8062284" cy="8339947"/>
          </a:xfrm>
          <a:custGeom>
            <a:avLst/>
            <a:gdLst/>
            <a:ahLst/>
            <a:cxnLst/>
            <a:rect r="r" b="b" t="t" l="l"/>
            <a:pathLst>
              <a:path h="8339947" w="8062284">
                <a:moveTo>
                  <a:pt x="0" y="0"/>
                </a:moveTo>
                <a:lnTo>
                  <a:pt x="8062283" y="0"/>
                </a:lnTo>
                <a:lnTo>
                  <a:pt x="8062283" y="8339947"/>
                </a:lnTo>
                <a:lnTo>
                  <a:pt x="0" y="8339947"/>
                </a:lnTo>
                <a:lnTo>
                  <a:pt x="0" y="0"/>
                </a:lnTo>
                <a:close/>
              </a:path>
            </a:pathLst>
          </a:custGeom>
          <a:blipFill>
            <a:blip r:embed="rId2"/>
            <a:stretch>
              <a:fillRect l="0" t="-69" r="0" b="0"/>
            </a:stretch>
          </a:blipFill>
        </p:spPr>
      </p:sp>
      <p:sp>
        <p:nvSpPr>
          <p:cNvPr name="TextBox 3" id="3"/>
          <p:cNvSpPr txBox="true"/>
          <p:nvPr/>
        </p:nvSpPr>
        <p:spPr>
          <a:xfrm rot="0">
            <a:off x="10163985" y="1174585"/>
            <a:ext cx="5581288" cy="2099253"/>
          </a:xfrm>
          <a:prstGeom prst="rect">
            <a:avLst/>
          </a:prstGeom>
        </p:spPr>
        <p:txBody>
          <a:bodyPr anchor="t" rtlCol="false" tIns="0" lIns="0" bIns="0" rIns="0">
            <a:spAutoFit/>
          </a:bodyPr>
          <a:lstStyle/>
          <a:p>
            <a:pPr algn="l">
              <a:lnSpc>
                <a:spcPts val="8174"/>
              </a:lnSpc>
            </a:pPr>
            <a:r>
              <a:rPr lang="en-US" sz="7499">
                <a:solidFill>
                  <a:srgbClr val="E7E6E1"/>
                </a:solidFill>
                <a:latin typeface="Georgia Pro Condensed Light"/>
                <a:ea typeface="Georgia Pro Condensed Light"/>
                <a:cs typeface="Georgia Pro Condensed Light"/>
                <a:sym typeface="Georgia Pro Condensed Light"/>
              </a:rPr>
              <a:t>Future Enhancements</a:t>
            </a:r>
          </a:p>
        </p:txBody>
      </p:sp>
      <p:sp>
        <p:nvSpPr>
          <p:cNvPr name="TextBox 4" id="4"/>
          <p:cNvSpPr txBox="true"/>
          <p:nvPr/>
        </p:nvSpPr>
        <p:spPr>
          <a:xfrm rot="0">
            <a:off x="10163985" y="5449300"/>
            <a:ext cx="6881984" cy="3806552"/>
          </a:xfrm>
          <a:prstGeom prst="rect">
            <a:avLst/>
          </a:prstGeom>
        </p:spPr>
        <p:txBody>
          <a:bodyPr anchor="t" rtlCol="false" tIns="0" lIns="0" bIns="0" rIns="0">
            <a:spAutoFit/>
          </a:bodyPr>
          <a:lstStyle/>
          <a:p>
            <a:pPr algn="l">
              <a:lnSpc>
                <a:spcPts val="3749"/>
              </a:lnSpc>
            </a:pPr>
            <a:r>
              <a:rPr lang="en-US" sz="2699">
                <a:solidFill>
                  <a:srgbClr val="C6C8D1"/>
                </a:solidFill>
                <a:latin typeface="TT Interphases"/>
                <a:ea typeface="TT Interphases"/>
                <a:cs typeface="TT Interphases"/>
                <a:sym typeface="TT Interphases"/>
              </a:rPr>
              <a:t>The Cancer Risk Predictor project aims to integrate </a:t>
            </a:r>
            <a:r>
              <a:rPr lang="en-US" b="true" sz="2699">
                <a:solidFill>
                  <a:srgbClr val="C6C8D1"/>
                </a:solidFill>
                <a:latin typeface="TT Interphases Bold"/>
                <a:ea typeface="TT Interphases Bold"/>
                <a:cs typeface="TT Interphases Bold"/>
                <a:sym typeface="TT Interphases Bold"/>
              </a:rPr>
              <a:t>AI capabilities</a:t>
            </a:r>
            <a:r>
              <a:rPr lang="en-US" sz="2699">
                <a:solidFill>
                  <a:srgbClr val="C6C8D1"/>
                </a:solidFill>
                <a:latin typeface="TT Interphases"/>
                <a:ea typeface="TT Interphases"/>
                <a:cs typeface="TT Interphases"/>
                <a:sym typeface="TT Interphases"/>
              </a:rPr>
              <a:t> and enhance connectivity with electronic medical records, creating a more personalized user experience. Future developments will focus on leveraging data insights to improve predictive accuracy and support user engagement across platforms.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0F3460"/>
        </a:solidFill>
      </p:bgPr>
    </p:bg>
    <p:spTree>
      <p:nvGrpSpPr>
        <p:cNvPr id="1" name=""/>
        <p:cNvGrpSpPr/>
        <p:nvPr/>
      </p:nvGrpSpPr>
      <p:grpSpPr>
        <a:xfrm>
          <a:off x="0" y="0"/>
          <a:ext cx="0" cy="0"/>
          <a:chOff x="0" y="0"/>
          <a:chExt cx="0" cy="0"/>
        </a:xfrm>
      </p:grpSpPr>
      <p:sp>
        <p:nvSpPr>
          <p:cNvPr name="TextBox 2" id="2"/>
          <p:cNvSpPr txBox="true"/>
          <p:nvPr/>
        </p:nvSpPr>
        <p:spPr>
          <a:xfrm rot="0">
            <a:off x="5519195" y="4286650"/>
            <a:ext cx="5549884" cy="1343901"/>
          </a:xfrm>
          <a:prstGeom prst="rect">
            <a:avLst/>
          </a:prstGeom>
        </p:spPr>
        <p:txBody>
          <a:bodyPr anchor="t" rtlCol="false" tIns="0" lIns="0" bIns="0" rIns="0">
            <a:spAutoFit/>
          </a:bodyPr>
          <a:lstStyle/>
          <a:p>
            <a:pPr algn="l">
              <a:lnSpc>
                <a:spcPts val="11092"/>
              </a:lnSpc>
            </a:pPr>
            <a:r>
              <a:rPr lang="en-US" sz="7923">
                <a:solidFill>
                  <a:srgbClr val="E7E6E1"/>
                </a:solidFill>
                <a:latin typeface="Georgia Pro Condensed Light"/>
                <a:ea typeface="Georgia Pro Condensed Light"/>
                <a:cs typeface="Georgia Pro Condensed Light"/>
                <a:sym typeface="Georgia Pro Condensed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DAG3qVI0h94</dc:identifier>
  <dcterms:modified xsi:type="dcterms:W3CDTF">2011-08-01T06:04:30Z</dcterms:modified>
  <cp:revision>1</cp:revision>
  <dc:title>Presentation - Cancer Risk Predictor An Advanced Presentation.pdf.pdf</dc:title>
</cp:coreProperties>
</file>